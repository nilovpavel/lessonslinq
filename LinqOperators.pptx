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6" r:id="rId1"/>
  </p:sldMasterIdLst>
  <p:notesMasterIdLst>
    <p:notesMasterId r:id="rId43"/>
  </p:notesMasterIdLst>
  <p:sldIdLst>
    <p:sldId id="323" r:id="rId2"/>
    <p:sldId id="258" r:id="rId3"/>
    <p:sldId id="324" r:id="rId4"/>
    <p:sldId id="260" r:id="rId5"/>
    <p:sldId id="261" r:id="rId6"/>
    <p:sldId id="268" r:id="rId7"/>
    <p:sldId id="297" r:id="rId8"/>
    <p:sldId id="299" r:id="rId9"/>
    <p:sldId id="361" r:id="rId10"/>
    <p:sldId id="352" r:id="rId11"/>
    <p:sldId id="356" r:id="rId12"/>
    <p:sldId id="362" r:id="rId13"/>
    <p:sldId id="353" r:id="rId14"/>
    <p:sldId id="372" r:id="rId15"/>
    <p:sldId id="363" r:id="rId16"/>
    <p:sldId id="354" r:id="rId17"/>
    <p:sldId id="373" r:id="rId18"/>
    <p:sldId id="364" r:id="rId19"/>
    <p:sldId id="376" r:id="rId20"/>
    <p:sldId id="375" r:id="rId21"/>
    <p:sldId id="374" r:id="rId22"/>
    <p:sldId id="355" r:id="rId23"/>
    <p:sldId id="365" r:id="rId24"/>
    <p:sldId id="377" r:id="rId25"/>
    <p:sldId id="371" r:id="rId26"/>
    <p:sldId id="366" r:id="rId27"/>
    <p:sldId id="357" r:id="rId28"/>
    <p:sldId id="367" r:id="rId29"/>
    <p:sldId id="358" r:id="rId30"/>
    <p:sldId id="378" r:id="rId31"/>
    <p:sldId id="368" r:id="rId32"/>
    <p:sldId id="360" r:id="rId33"/>
    <p:sldId id="381" r:id="rId34"/>
    <p:sldId id="379" r:id="rId35"/>
    <p:sldId id="302" r:id="rId36"/>
    <p:sldId id="303" r:id="rId37"/>
    <p:sldId id="382" r:id="rId38"/>
    <p:sldId id="383" r:id="rId39"/>
    <p:sldId id="304" r:id="rId40"/>
    <p:sldId id="380" r:id="rId41"/>
    <p:sldId id="306" r:id="rId42"/>
  </p:sldIdLst>
  <p:sldSz cx="9144000" cy="5143500" type="screen16x9"/>
  <p:notesSz cx="6858000" cy="9144000"/>
  <p:embeddedFontLst>
    <p:embeddedFont>
      <p:font typeface="Roboto" panose="020B0604020202020204" charset="0"/>
      <p:regular r:id="rId44"/>
      <p:bold r:id="rId45"/>
      <p:italic r:id="rId46"/>
      <p:boldItalic r:id="rId4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9900"/>
    <a:srgbClr val="99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4049BB3-00C0-4E36-B14F-18F9014FF099}">
  <a:tblStyle styleId="{94049BB3-00C0-4E36-B14F-18F9014FF09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44" d="100"/>
          <a:sy n="144" d="100"/>
        </p:scale>
        <p:origin x="654" y="12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font" Target="fonts/font4.fntdata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font" Target="fonts/font3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9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f224ada0cd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f224ada0cd_0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5928017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f305d12f47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f305d12f47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2f5752d2829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2f5752d2829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4865211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de823becd0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de823becd0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de823becd0_0_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de823becd0_0_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df29b9fb24_0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df29b9fb24_0_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g2f603b5cfe7_2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4" name="Google Shape;424;g2f603b5cfe7_2_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g2f69afabb45_0_1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5" name="Google Shape;435;g2f69afabb45_0_1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g2f603b5cfe7_2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4" name="Google Shape;424;g2f603b5cfe7_2_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9464268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g2f69afabb45_0_1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5" name="Google Shape;435;g2f69afabb45_0_1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5458196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g2f69afabb45_0_1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5" name="Google Shape;435;g2f69afabb45_0_1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2149247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g2f603b5cfe7_2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4" name="Google Shape;424;g2f603b5cfe7_2_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165918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g2f69afabb45_0_1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5" name="Google Shape;435;g2f69afabb45_0_1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8535493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g2f69afabb45_0_1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5" name="Google Shape;435;g2f69afabb45_0_1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2149247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g2f603b5cfe7_2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4" name="Google Shape;424;g2f603b5cfe7_2_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4565023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g2f69afabb45_0_1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5" name="Google Shape;435;g2f69afabb45_0_1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0054673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g2f69afabb45_0_1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5" name="Google Shape;435;g2f69afabb45_0_1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2904224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g2f603b5cfe7_2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4" name="Google Shape;424;g2f603b5cfe7_2_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9052872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g2f69afabb45_0_1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5" name="Google Shape;435;g2f69afabb45_0_1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6675522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g2f69afabb45_0_1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5" name="Google Shape;435;g2f69afabb45_0_1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8946428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g2f603b5cfe7_2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4" name="Google Shape;424;g2f603b5cfe7_2_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5411877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g2f69afabb45_0_1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5" name="Google Shape;435;g2f69afabb45_0_1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6885986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g2f603b5cfe7_2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4" name="Google Shape;424;g2f603b5cfe7_2_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3968434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g2f69afabb45_0_1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5" name="Google Shape;435;g2f69afabb45_0_1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2143832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g2f69afabb45_0_1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5" name="Google Shape;435;g2f69afabb45_0_1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2149247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g2f603b5cfe7_2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4" name="Google Shape;424;g2f603b5cfe7_2_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4209008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g2f69afabb45_0_1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5" name="Google Shape;435;g2f69afabb45_0_1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1209988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g2f603b5cfe7_2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4" name="Google Shape;424;g2f603b5cfe7_2_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2321146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g2f69afabb45_0_1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5" name="Google Shape;435;g2f69afabb45_0_1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6543655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g2f69afabb45_0_1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5" name="Google Shape;435;g2f69afabb45_0_1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993966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g2f603b5cfe7_2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4" name="Google Shape;424;g2f603b5cfe7_2_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75722545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g2f69afabb45_0_1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5" name="Google Shape;435;g2f69afabb45_0_1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18932020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g2f69afabb45_0_1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5" name="Google Shape;435;g2f69afabb45_0_1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18932020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g2f69afabb45_0_1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5" name="Google Shape;435;g2f69afabb45_0_1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44237588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g2f62e005416_0_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2" name="Google Shape;452;g2f62e005416_0_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g2f62e005416_0_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7" name="Google Shape;457;g2f62e005416_0_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g2f62e005416_0_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2" name="Google Shape;452;g2f62e005416_0_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g2f62e005416_0_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7" name="Google Shape;457;g2f62e005416_0_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g2f62e005416_0_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3" name="Google Shape;463;g2f62e005416_0_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df29b9fb24_0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df29b9fb24_0_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ge3a7074569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4" name="Google Shape;474;ge3a7074569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l="99" r="99"/>
          <a:stretch/>
        </p:blipFill>
        <p:spPr>
          <a:xfrm>
            <a:off x="-17928" y="-10075"/>
            <a:ext cx="9161923" cy="516365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944650" y="4350425"/>
            <a:ext cx="77103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1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title"/>
          </p:nvPr>
        </p:nvSpPr>
        <p:spPr>
          <a:xfrm>
            <a:off x="944650" y="1769194"/>
            <a:ext cx="8183100" cy="218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Белый слайд + заголовок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500550" y="1940306"/>
            <a:ext cx="79353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500550" y="1426469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365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700"/>
              <a:buChar char="●"/>
              <a:defRPr/>
            </a:lvl1pPr>
            <a:lvl2pPr marL="914400" lvl="1" indent="-3238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500"/>
              <a:buChar char="○"/>
              <a:defRPr/>
            </a:lvl2pPr>
            <a:lvl3pPr marL="1371600" lvl="2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/>
            </a:lvl3pPr>
            <a:lvl4pPr marL="1828800" lvl="3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●"/>
              <a:defRPr/>
            </a:lvl4pPr>
            <a:lvl5pPr marL="2286000" lvl="4" indent="-31115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5pPr>
            <a:lvl6pPr marL="2743200" lvl="5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/>
            </a:lvl6pPr>
            <a:lvl7pPr marL="3200400" lvl="6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●"/>
              <a:defRPr/>
            </a:lvl7pPr>
            <a:lvl8pPr marL="3657600" lvl="7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○"/>
              <a:defRPr/>
            </a:lvl8pPr>
            <a:lvl9pPr marL="4114800" lvl="8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ема вебинара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title"/>
          </p:nvPr>
        </p:nvSpPr>
        <p:spPr>
          <a:xfrm>
            <a:off x="500550" y="821213"/>
            <a:ext cx="8520600" cy="198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subTitle" idx="1"/>
          </p:nvPr>
        </p:nvSpPr>
        <p:spPr>
          <a:xfrm>
            <a:off x="500550" y="457313"/>
            <a:ext cx="77967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500"/>
              <a:buNone/>
              <a:defRPr sz="1500">
                <a:solidFill>
                  <a:srgbClr val="FF9900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ubTitle" idx="2"/>
          </p:nvPr>
        </p:nvSpPr>
        <p:spPr>
          <a:xfrm>
            <a:off x="3135425" y="2978831"/>
            <a:ext cx="5856300" cy="58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0505"/>
              </a:buClr>
              <a:buSzPts val="1500"/>
              <a:buNone/>
              <a:defRPr sz="1500" b="1">
                <a:solidFill>
                  <a:srgbClr val="050505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subTitle" idx="3"/>
          </p:nvPr>
        </p:nvSpPr>
        <p:spPr>
          <a:xfrm>
            <a:off x="3135425" y="3278981"/>
            <a:ext cx="58563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subTitle" idx="4"/>
          </p:nvPr>
        </p:nvSpPr>
        <p:spPr>
          <a:xfrm>
            <a:off x="3135425" y="3662550"/>
            <a:ext cx="5856300" cy="10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97">
          <p15:clr>
            <a:srgbClr val="FA7B17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азделительный слайд">
  <p:cSld name="MAIN_POINT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  <p:pic>
        <p:nvPicPr>
          <p:cNvPr id="29" name="Google Shape;29;p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6"/>
          <p:cNvSpPr txBox="1">
            <a:spLocks noGrp="1"/>
          </p:cNvSpPr>
          <p:nvPr>
            <p:ph type="title"/>
          </p:nvPr>
        </p:nvSpPr>
        <p:spPr>
          <a:xfrm>
            <a:off x="956225" y="396400"/>
            <a:ext cx="6931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О себе">
  <p:cSld name="CUSTOM_1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 txBox="1">
            <a:spLocks noGrp="1"/>
          </p:cNvSpPr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7"/>
          <p:cNvSpPr txBox="1">
            <a:spLocks noGrp="1"/>
          </p:cNvSpPr>
          <p:nvPr>
            <p:ph type="subTitle" idx="1"/>
          </p:nvPr>
        </p:nvSpPr>
        <p:spPr>
          <a:xfrm>
            <a:off x="3891775" y="1716281"/>
            <a:ext cx="4391700" cy="58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4" name="Google Shape;34;p7"/>
          <p:cNvSpPr txBox="1">
            <a:spLocks noGrp="1"/>
          </p:cNvSpPr>
          <p:nvPr>
            <p:ph type="subTitle" idx="2"/>
          </p:nvPr>
        </p:nvSpPr>
        <p:spPr>
          <a:xfrm>
            <a:off x="3891775" y="2252794"/>
            <a:ext cx="4587900" cy="203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аздел+описание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8"/>
          <p:cNvSpPr txBox="1">
            <a:spLocks noGrp="1"/>
          </p:cNvSpPr>
          <p:nvPr>
            <p:ph type="title"/>
          </p:nvPr>
        </p:nvSpPr>
        <p:spPr>
          <a:xfrm>
            <a:off x="609075" y="12208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8"/>
          <p:cNvSpPr txBox="1">
            <a:spLocks noGrp="1"/>
          </p:cNvSpPr>
          <p:nvPr>
            <p:ph type="subTitle" idx="1"/>
          </p:nvPr>
        </p:nvSpPr>
        <p:spPr>
          <a:xfrm>
            <a:off x="609075" y="2916213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  <p:sp>
        <p:nvSpPr>
          <p:cNvPr id="39" name="Google Shape;39;p8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3655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marL="914400" lvl="1" indent="-32385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marL="1371600" lvl="2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marL="1828800" lvl="3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4pPr>
            <a:lvl5pPr marL="2286000" lvl="4" indent="-31115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5pPr>
            <a:lvl6pPr marL="2743200" lvl="5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6pPr>
            <a:lvl7pPr marL="3200400" lvl="6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7pPr>
            <a:lvl8pPr marL="3657600" lvl="7" indent="-31115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8pPr>
            <a:lvl9pPr marL="4114800" lvl="8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">
  <p:cSld name="CUSTOM_3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>
            <a:spLocks noGrp="1"/>
          </p:cNvSpPr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с кодом 1">
  <p:cSld name="CUSTOM_2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1"/>
          <p:cNvSpPr txBox="1">
            <a:spLocks noGrp="1"/>
          </p:cNvSpPr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/>
          <p:nvPr/>
        </p:nvSpPr>
        <p:spPr>
          <a:xfrm>
            <a:off x="606200" y="1441163"/>
            <a:ext cx="7938600" cy="35649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48;p11"/>
          <p:cNvSpPr txBox="1">
            <a:spLocks noGrp="1"/>
          </p:cNvSpPr>
          <p:nvPr>
            <p:ph type="subTitle" idx="1"/>
          </p:nvPr>
        </p:nvSpPr>
        <p:spPr>
          <a:xfrm>
            <a:off x="743675" y="1496071"/>
            <a:ext cx="8226300" cy="345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Courier New"/>
              <a:buNone/>
              <a:defRPr sz="1100"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с кодом 2">
  <p:cSld name="CUSTOM_2_1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2"/>
          <p:cNvSpPr txBox="1">
            <a:spLocks noGrp="1"/>
          </p:cNvSpPr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2"/>
          <p:cNvSpPr/>
          <p:nvPr/>
        </p:nvSpPr>
        <p:spPr>
          <a:xfrm>
            <a:off x="606200" y="1441163"/>
            <a:ext cx="7938600" cy="3564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" name="Google Shape;52;p12"/>
          <p:cNvSpPr txBox="1">
            <a:spLocks noGrp="1"/>
          </p:cNvSpPr>
          <p:nvPr>
            <p:ph type="subTitle" idx="1"/>
          </p:nvPr>
        </p:nvSpPr>
        <p:spPr>
          <a:xfrm>
            <a:off x="743675" y="1496071"/>
            <a:ext cx="8226300" cy="345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ourier New"/>
              <a:buNone/>
              <a:defRPr sz="11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КОД+ТЕКСТ 1">
  <p:cSld name="CUSTOM_4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530000" y="1310381"/>
            <a:ext cx="7862400" cy="72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6" name="Google Shape;56;p13"/>
          <p:cNvSpPr/>
          <p:nvPr/>
        </p:nvSpPr>
        <p:spPr>
          <a:xfrm>
            <a:off x="606200" y="2144231"/>
            <a:ext cx="7938600" cy="24645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subTitle" idx="2"/>
          </p:nvPr>
        </p:nvSpPr>
        <p:spPr>
          <a:xfrm>
            <a:off x="795050" y="2220038"/>
            <a:ext cx="7568100" cy="236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Courier New"/>
              <a:buNone/>
              <a:defRPr sz="1300"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КОД+ТЕКСТ 2">
  <p:cSld name="CUSTOM_4_1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>
            <a:spLocks noGrp="1"/>
          </p:cNvSpPr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4"/>
          <p:cNvSpPr/>
          <p:nvPr/>
        </p:nvSpPr>
        <p:spPr>
          <a:xfrm>
            <a:off x="362300" y="1364963"/>
            <a:ext cx="4748700" cy="35649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" name="Google Shape;61;p14"/>
          <p:cNvSpPr txBox="1">
            <a:spLocks noGrp="1"/>
          </p:cNvSpPr>
          <p:nvPr>
            <p:ph type="subTitle" idx="1"/>
          </p:nvPr>
        </p:nvSpPr>
        <p:spPr>
          <a:xfrm>
            <a:off x="500550" y="1474819"/>
            <a:ext cx="4428600" cy="345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Courier New"/>
              <a:buNone/>
              <a:defRPr sz="1300"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  <p:sp>
        <p:nvSpPr>
          <p:cNvPr id="62" name="Google Shape;62;p14"/>
          <p:cNvSpPr txBox="1">
            <a:spLocks noGrp="1"/>
          </p:cNvSpPr>
          <p:nvPr>
            <p:ph type="subTitle" idx="2"/>
          </p:nvPr>
        </p:nvSpPr>
        <p:spPr>
          <a:xfrm>
            <a:off x="5555275" y="1474819"/>
            <a:ext cx="3151200" cy="326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>
          <a:blip r:embed="rId15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Roboto"/>
              <a:buNone/>
              <a:defRPr sz="31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24350" y="1578869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365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238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hyperlink" Target="https://learn.microsoft.com/ru-ru/dotnet/csharp/linq/standard-query-operators/partitioning-data" TargetMode="External"/><Relationship Id="rId3" Type="http://schemas.openxmlformats.org/officeDocument/2006/relationships/hyperlink" Target="https://learn.microsoft.com/en-us/dotnet/csharp/linq/standard-query-operators/filtering-data" TargetMode="External"/><Relationship Id="rId7" Type="http://schemas.openxmlformats.org/officeDocument/2006/relationships/hyperlink" Target="https://learn.microsoft.com/en-us/dotnet/csharp/linq/standard-query-operators/quantifier-operations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6" Type="http://schemas.openxmlformats.org/officeDocument/2006/relationships/hyperlink" Target="https://learn.microsoft.com/en-us/dotnet/csharp/linq/standard-query-operators/sorting-data" TargetMode="External"/><Relationship Id="rId11" Type="http://schemas.openxmlformats.org/officeDocument/2006/relationships/hyperlink" Target="https://learn.microsoft.com/ru-ru/dotnet/csharp/linq/standard-query-operators/grouping-data" TargetMode="External"/><Relationship Id="rId5" Type="http://schemas.openxmlformats.org/officeDocument/2006/relationships/hyperlink" Target="https://learn.microsoft.com/en-us/dotnet/csharp/linq/standard-query-operators/set-operations" TargetMode="External"/><Relationship Id="rId10" Type="http://schemas.openxmlformats.org/officeDocument/2006/relationships/hyperlink" Target="https://learn.microsoft.com/ru-ru/dotnet/csharp/linq/standard-query-operators/join-operations" TargetMode="External"/><Relationship Id="rId4" Type="http://schemas.openxmlformats.org/officeDocument/2006/relationships/hyperlink" Target="https://learn.microsoft.com/en-us/dotnet/csharp/linq/standard-query-operators/projection-operations" TargetMode="External"/><Relationship Id="rId9" Type="http://schemas.openxmlformats.org/officeDocument/2006/relationships/hyperlink" Target="https://learn.microsoft.com/ru-ru/dotnet/csharp/linq/standard-query-operators/converting-data-types" TargetMode="Externa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learn.microsoft.com/en-us/dotnet/api/system.linq.enumerable.oftype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learn.microsoft.com/en-us/dotnet/api/system.linq.enumerable.where" TargetMode="Externa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learn.microsoft.com/en-us/dotnet/api/system.linq.enumerable.select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5" Type="http://schemas.openxmlformats.org/officeDocument/2006/relationships/hyperlink" Target="https://learn.microsoft.com/en-us/dotnet/api/system.linq.enumerable.zip" TargetMode="External"/><Relationship Id="rId4" Type="http://schemas.openxmlformats.org/officeDocument/2006/relationships/hyperlink" Target="https://learn.microsoft.com/en-us/dotnet/api/system.linq.enumerable.selectmany" TargetMode="Externa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hyperlink" Target="https://learn.microsoft.com/en-us/dotnet/api/system.linq.enumerable.distinct" TargetMode="External"/><Relationship Id="rId7" Type="http://schemas.openxmlformats.org/officeDocument/2006/relationships/hyperlink" Target="https://learn.microsoft.com/en-us/dotnet/api/system.linq.enumerable.exceptby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Relationship Id="rId6" Type="http://schemas.openxmlformats.org/officeDocument/2006/relationships/hyperlink" Target="https://learn.microsoft.com/en-us/dotnet/api/system.linq.enumerable.except" TargetMode="External"/><Relationship Id="rId5" Type="http://schemas.openxmlformats.org/officeDocument/2006/relationships/image" Target="../media/image15.png"/><Relationship Id="rId4" Type="http://schemas.openxmlformats.org/officeDocument/2006/relationships/hyperlink" Target="https://learn.microsoft.com/en-us/dotnet/api/system.linq.enumerable.distinctby" TargetMode="Externa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hyperlink" Target="https://learn.microsoft.com/en-us/dotnet/api/system.linq.enumerable.intersect" TargetMode="External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Relationship Id="rId6" Type="http://schemas.openxmlformats.org/officeDocument/2006/relationships/hyperlink" Target="https://learn.microsoft.com/en-us/dotnet/api/system.linq.enumerable.unionby" TargetMode="External"/><Relationship Id="rId5" Type="http://schemas.openxmlformats.org/officeDocument/2006/relationships/hyperlink" Target="https://learn.microsoft.com/en-us/dotnet/api/system.linq.enumerable.union" TargetMode="External"/><Relationship Id="rId4" Type="http://schemas.openxmlformats.org/officeDocument/2006/relationships/hyperlink" Target="https://learn.microsoft.com/en-us/dotnet/api/system.linq.enumerable.intersectby" TargetMode="Externa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learn.microsoft.com/ru-ru/dotnet/api/system.linq.enumerable.orderby" TargetMode="Externa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9.png"/><Relationship Id="rId4" Type="http://schemas.openxmlformats.org/officeDocument/2006/relationships/hyperlink" Target="https://learn.microsoft.com/ru-ru/dotnet/api/system.linq.enumerable.orderbydescending" TargetMode="Externa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learn.microsoft.com/ru-ru/dotnet/api/system.linq.enumerable.thenby" TargetMode="Externa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Relationship Id="rId5" Type="http://schemas.openxmlformats.org/officeDocument/2006/relationships/hyperlink" Target="https://learn.microsoft.com/ru-ru/dotnet/api/system.linq.enumerable.reverse" TargetMode="External"/><Relationship Id="rId4" Type="http://schemas.openxmlformats.org/officeDocument/2006/relationships/hyperlink" Target="https://learn.microsoft.com/ru-ru/dotnet/api/system.linq.enumerable.thenbydescending" TargetMode="Externa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learn.microsoft.com/ru-ru/dotnet/api/system.linq.enumerable.all" TargetMode="Externa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0.png"/><Relationship Id="rId5" Type="http://schemas.openxmlformats.org/officeDocument/2006/relationships/hyperlink" Target="https://learn.microsoft.com/en-us/dotnet/api/system.linq.enumerable.contains" TargetMode="External"/><Relationship Id="rId4" Type="http://schemas.openxmlformats.org/officeDocument/2006/relationships/hyperlink" Target="https://learn.microsoft.com/ru-ru/dotnet/api/system.linq.enumerable.any" TargetMode="Externa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learn.microsoft.com/ru-ru/dotnet/api/system.linq.enumerable.skip" TargetMode="External"/><Relationship Id="rId7" Type="http://schemas.openxmlformats.org/officeDocument/2006/relationships/hyperlink" Target="https://learn.microsoft.com/ru-ru/dotnet/api/system.linq.enumerable.chunk" TargetMode="Externa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Relationship Id="rId6" Type="http://schemas.openxmlformats.org/officeDocument/2006/relationships/hyperlink" Target="https://learn.microsoft.com/ru-ru/dotnet/api/system.linq.enumerable.takewhile" TargetMode="External"/><Relationship Id="rId5" Type="http://schemas.openxmlformats.org/officeDocument/2006/relationships/hyperlink" Target="https://learn.microsoft.com/ru-ru/dotnet/api/system.linq.enumerable.take" TargetMode="External"/><Relationship Id="rId4" Type="http://schemas.openxmlformats.org/officeDocument/2006/relationships/hyperlink" Target="https://learn.microsoft.com/ru-ru/dotnet/api/system.linq.enumerable.skipwhile" TargetMode="Externa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learn.microsoft.com/en-us/dotnet/csharp/linq/standard-query-operators/converting-data-types" TargetMode="External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hyperlink" Target="https://learn.microsoft.com/ru-ru/dotnet/api/system.linq.enumerable.join" TargetMode="External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learn.microsoft.com/ru-ru/dotnet/api/system.linq.enumerable.groupjoin" TargetMode="Externa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hyperlink" Target="https://learn.microsoft.com/en-us/dotnet/api/system.linq.enumerable.groupby" TargetMode="External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.xml"/><Relationship Id="rId6" Type="http://schemas.openxmlformats.org/officeDocument/2006/relationships/hyperlink" Target="https://learn.microsoft.com/ru-ru/dotnet/api/system.linq.lookup-2" TargetMode="External"/><Relationship Id="rId5" Type="http://schemas.openxmlformats.org/officeDocument/2006/relationships/hyperlink" Target="https://learn.microsoft.com/ru-ru/dotnet/api/system.linq.enumerable.tolookup" TargetMode="External"/><Relationship Id="rId4" Type="http://schemas.openxmlformats.org/officeDocument/2006/relationships/hyperlink" Target="https://learn.microsoft.com/ru-ru/dotnet/api/system.linq.igrouping-2" TargetMode="Externa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hyperlink" Target="https://learn.microsoft.com/ru-ru/dotnet/api/system.linq.enumerable?view=net-8.0" TargetMode="External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5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9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32"/>
          <p:cNvSpPr txBox="1">
            <a:spLocks noGrp="1"/>
          </p:cNvSpPr>
          <p:nvPr>
            <p:ph type="subTitle" idx="1"/>
          </p:nvPr>
        </p:nvSpPr>
        <p:spPr>
          <a:xfrm>
            <a:off x="944650" y="4350425"/>
            <a:ext cx="77103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otus.ru</a:t>
            </a:r>
            <a:endParaRPr dirty="0"/>
          </a:p>
        </p:txBody>
      </p:sp>
      <p:sp>
        <p:nvSpPr>
          <p:cNvPr id="138" name="Google Shape;138;p32"/>
          <p:cNvSpPr txBox="1">
            <a:spLocks noGrp="1"/>
          </p:cNvSpPr>
          <p:nvPr>
            <p:ph type="title"/>
          </p:nvPr>
        </p:nvSpPr>
        <p:spPr>
          <a:xfrm>
            <a:off x="534600" y="1776000"/>
            <a:ext cx="7654200" cy="218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400" dirty="0" err="1" smtClean="0"/>
              <a:t>Linq</a:t>
            </a:r>
            <a:r>
              <a:rPr lang="ru-RU" sz="4400" dirty="0" smtClean="0"/>
              <a:t> операторы</a:t>
            </a:r>
            <a:endParaRPr sz="4400" dirty="0"/>
          </a:p>
        </p:txBody>
      </p:sp>
    </p:spTree>
    <p:extLst>
      <p:ext uri="{BB962C8B-B14F-4D97-AF65-F5344CB8AC3E}">
        <p14:creationId xmlns:p14="http://schemas.microsoft.com/office/powerpoint/2010/main" val="41366534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33"/>
          <p:cNvSpPr txBox="1"/>
          <p:nvPr/>
        </p:nvSpPr>
        <p:spPr>
          <a:xfrm>
            <a:off x="1635875" y="772125"/>
            <a:ext cx="79353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100" b="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Проверить, идет ли запись</a:t>
            </a:r>
            <a:endParaRPr sz="2100" b="1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4" name="Google Shape;144;p33"/>
          <p:cNvSpPr txBox="1"/>
          <p:nvPr/>
        </p:nvSpPr>
        <p:spPr>
          <a:xfrm>
            <a:off x="766725" y="1805199"/>
            <a:ext cx="7935300" cy="129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35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Напишите </a:t>
            </a:r>
            <a:r>
              <a:rPr lang="ru" sz="3500" b="1">
                <a:solidFill>
                  <a:schemeClr val="dk1"/>
                </a:solidFill>
                <a:highlight>
                  <a:schemeClr val="lt1"/>
                </a:highlight>
              </a:rPr>
              <a:t>«</a:t>
            </a:r>
            <a:r>
              <a:rPr lang="ru" sz="35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+</a:t>
            </a:r>
            <a:r>
              <a:rPr lang="ru" sz="3500" b="1">
                <a:solidFill>
                  <a:schemeClr val="dk1"/>
                </a:solidFill>
                <a:highlight>
                  <a:schemeClr val="lt1"/>
                </a:highlight>
              </a:rPr>
              <a:t>»</a:t>
            </a:r>
            <a:r>
              <a:rPr lang="ru" sz="35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в чат, если меня слышно и видно</a:t>
            </a:r>
            <a:endParaRPr sz="3500" b="1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45" name="Google Shape;145;p3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57275" y="3516281"/>
            <a:ext cx="526796" cy="526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3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84856" y="3516281"/>
            <a:ext cx="526796" cy="526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33"/>
          <p:cNvPicPr preferRelativeResize="0"/>
          <p:nvPr/>
        </p:nvPicPr>
        <p:blipFill rotWithShape="1">
          <a:blip r:embed="rId5">
            <a:alphaModFix/>
          </a:blip>
          <a:srcRect l="99" r="99"/>
          <a:stretch/>
        </p:blipFill>
        <p:spPr>
          <a:xfrm>
            <a:off x="880825" y="1032408"/>
            <a:ext cx="642317" cy="3211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34"/>
          <p:cNvSpPr/>
          <p:nvPr/>
        </p:nvSpPr>
        <p:spPr>
          <a:xfrm>
            <a:off x="624575" y="2652575"/>
            <a:ext cx="1499100" cy="1815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3" name="Google Shape;153;p34"/>
          <p:cNvSpPr txBox="1">
            <a:spLocks noGrp="1"/>
          </p:cNvSpPr>
          <p:nvPr>
            <p:ph type="title"/>
          </p:nvPr>
        </p:nvSpPr>
        <p:spPr>
          <a:xfrm>
            <a:off x="500550" y="821213"/>
            <a:ext cx="8520600" cy="58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 err="1" smtClean="0"/>
              <a:t>Linq</a:t>
            </a:r>
            <a:r>
              <a:rPr lang="en-US" dirty="0" smtClean="0"/>
              <a:t>-</a:t>
            </a:r>
            <a:r>
              <a:rPr lang="ru-RU" dirty="0" smtClean="0"/>
              <a:t>операторы</a:t>
            </a:r>
            <a:endParaRPr dirty="0" smtClean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i="1" dirty="0"/>
          </a:p>
        </p:txBody>
      </p:sp>
      <p:sp>
        <p:nvSpPr>
          <p:cNvPr id="154" name="Google Shape;154;p34"/>
          <p:cNvSpPr txBox="1">
            <a:spLocks noGrp="1"/>
          </p:cNvSpPr>
          <p:nvPr>
            <p:ph type="subTitle" idx="2"/>
          </p:nvPr>
        </p:nvSpPr>
        <p:spPr>
          <a:xfrm>
            <a:off x="3164850" y="2587356"/>
            <a:ext cx="5856300" cy="58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i="1">
                <a:solidFill>
                  <a:schemeClr val="dk1"/>
                </a:solidFill>
              </a:rPr>
              <a:t>Нилов Павел</a:t>
            </a:r>
            <a:endParaRPr i="1">
              <a:solidFill>
                <a:schemeClr val="dk1"/>
              </a:solidFill>
            </a:endParaRPr>
          </a:p>
        </p:txBody>
      </p:sp>
      <p:pic>
        <p:nvPicPr>
          <p:cNvPr id="155" name="Google Shape;155;p34"/>
          <p:cNvPicPr preferRelativeResize="0"/>
          <p:nvPr/>
        </p:nvPicPr>
        <p:blipFill rotWithShape="1">
          <a:blip r:embed="rId3">
            <a:alphaModFix/>
          </a:blip>
          <a:srcRect t="941" b="941"/>
          <a:stretch/>
        </p:blipFill>
        <p:spPr>
          <a:xfrm>
            <a:off x="1033167" y="2867584"/>
            <a:ext cx="1383000" cy="13650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156" name="Google Shape;156;p34"/>
          <p:cNvSpPr txBox="1"/>
          <p:nvPr/>
        </p:nvSpPr>
        <p:spPr>
          <a:xfrm>
            <a:off x="500550" y="503025"/>
            <a:ext cx="7796700" cy="47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700" dirty="0">
                <a:solidFill>
                  <a:srgbClr val="FF7700"/>
                </a:solidFill>
                <a:latin typeface="Roboto"/>
                <a:ea typeface="Roboto"/>
                <a:cs typeface="Roboto"/>
                <a:sym typeface="Roboto"/>
              </a:rPr>
              <a:t>Тема </a:t>
            </a:r>
            <a:r>
              <a:rPr lang="ru" sz="1700" dirty="0" smtClean="0">
                <a:solidFill>
                  <a:srgbClr val="FF7700"/>
                </a:solidFill>
                <a:latin typeface="Roboto"/>
                <a:ea typeface="Roboto"/>
                <a:cs typeface="Roboto"/>
                <a:sym typeface="Roboto"/>
              </a:rPr>
              <a:t>урока</a:t>
            </a:r>
            <a:endParaRPr sz="1700">
              <a:solidFill>
                <a:srgbClr val="FF77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7" name="Google Shape;157;p34"/>
          <p:cNvSpPr txBox="1"/>
          <p:nvPr/>
        </p:nvSpPr>
        <p:spPr>
          <a:xfrm>
            <a:off x="3248850" y="2988500"/>
            <a:ext cx="5125800" cy="19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 i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Fullstack разработчик компании Волховец</a:t>
            </a:r>
            <a:endParaRPr sz="1300" i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84615"/>
              <a:buFont typeface="Arial"/>
              <a:buNone/>
            </a:pPr>
            <a:endParaRPr sz="1300" i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84615"/>
              <a:buFont typeface="Arial"/>
              <a:buNone/>
            </a:pPr>
            <a:r>
              <a:rPr lang="ru" sz="1300" i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Преподаватель курса C# </a:t>
            </a:r>
            <a:r>
              <a:rPr lang="ru" sz="1300" i="1" dirty="0" smtClean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Professional, </a:t>
            </a:r>
            <a:r>
              <a:rPr lang="en-US" sz="1300" i="1" dirty="0" smtClean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C# Basic</a:t>
            </a:r>
            <a:endParaRPr sz="1300" i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 i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 i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Контакты:t.me/@NilovPavel</a:t>
            </a:r>
            <a:endParaRPr sz="1300" i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 i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58" name="Google Shape;158;p3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077621" y="258179"/>
            <a:ext cx="652375" cy="65237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8498323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35"/>
          <p:cNvSpPr txBox="1">
            <a:spLocks noGrp="1"/>
          </p:cNvSpPr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b="1"/>
              <a:t>Правила вебинара</a:t>
            </a:r>
            <a:endParaRPr b="1"/>
          </a:p>
        </p:txBody>
      </p:sp>
      <p:pic>
        <p:nvPicPr>
          <p:cNvPr id="164" name="Google Shape;164;p3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7650" y="3494081"/>
            <a:ext cx="692621" cy="6926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3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37650" y="1510213"/>
            <a:ext cx="692621" cy="692620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35"/>
          <p:cNvSpPr txBox="1"/>
          <p:nvPr/>
        </p:nvSpPr>
        <p:spPr>
          <a:xfrm>
            <a:off x="1654525" y="1480850"/>
            <a:ext cx="24753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latin typeface="Roboto"/>
                <a:ea typeface="Roboto"/>
                <a:cs typeface="Roboto"/>
                <a:sym typeface="Roboto"/>
              </a:rPr>
              <a:t>Активно</a:t>
            </a:r>
            <a:endParaRPr sz="15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latin typeface="Roboto"/>
                <a:ea typeface="Roboto"/>
                <a:cs typeface="Roboto"/>
                <a:sym typeface="Roboto"/>
              </a:rPr>
              <a:t>участвуем</a:t>
            </a:r>
            <a:endParaRPr sz="15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7" name="Google Shape;167;p35"/>
          <p:cNvSpPr txBox="1"/>
          <p:nvPr/>
        </p:nvSpPr>
        <p:spPr>
          <a:xfrm>
            <a:off x="1654525" y="3517859"/>
            <a:ext cx="3231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latin typeface="Roboto"/>
                <a:ea typeface="Roboto"/>
                <a:cs typeface="Roboto"/>
                <a:sym typeface="Roboto"/>
              </a:rPr>
              <a:t>Вопросы вижу в чате,</a:t>
            </a:r>
            <a:endParaRPr sz="15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latin typeface="Roboto"/>
                <a:ea typeface="Roboto"/>
                <a:cs typeface="Roboto"/>
                <a:sym typeface="Roboto"/>
              </a:rPr>
              <a:t>могу ответить не сразу</a:t>
            </a:r>
            <a:endParaRPr sz="15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68" name="Google Shape;168;p3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37651" y="2514043"/>
            <a:ext cx="692621" cy="692599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35"/>
          <p:cNvSpPr txBox="1"/>
          <p:nvPr/>
        </p:nvSpPr>
        <p:spPr>
          <a:xfrm>
            <a:off x="1654525" y="2519056"/>
            <a:ext cx="3231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latin typeface="Roboto"/>
                <a:ea typeface="Roboto"/>
                <a:cs typeface="Roboto"/>
                <a:sym typeface="Roboto"/>
              </a:rPr>
              <a:t>Задаем вопрос</a:t>
            </a:r>
            <a:endParaRPr sz="15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latin typeface="Roboto"/>
                <a:ea typeface="Roboto"/>
                <a:cs typeface="Roboto"/>
                <a:sym typeface="Roboto"/>
              </a:rPr>
              <a:t>в чат</a:t>
            </a:r>
            <a:endParaRPr sz="15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36"/>
          <p:cNvSpPr txBox="1">
            <a:spLocks noGrp="1"/>
          </p:cNvSpPr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Маршрут вебинара</a:t>
            </a:r>
            <a:endParaRPr/>
          </a:p>
        </p:txBody>
      </p:sp>
      <p:sp>
        <p:nvSpPr>
          <p:cNvPr id="175" name="Google Shape;175;p36"/>
          <p:cNvSpPr/>
          <p:nvPr/>
        </p:nvSpPr>
        <p:spPr>
          <a:xfrm>
            <a:off x="680150" y="1521150"/>
            <a:ext cx="3384900" cy="4263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270000" tIns="91425" rIns="270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1. </a:t>
            </a:r>
            <a:r>
              <a:rPr lang="ru-RU" sz="1500" dirty="0" smtClean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Фильтрация</a:t>
            </a: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6" name="Google Shape;176;p36"/>
          <p:cNvSpPr/>
          <p:nvPr/>
        </p:nvSpPr>
        <p:spPr>
          <a:xfrm>
            <a:off x="680150" y="2186734"/>
            <a:ext cx="3384900" cy="4263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270000" tIns="91425" rIns="270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5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2. </a:t>
            </a:r>
            <a:r>
              <a:rPr lang="ru" sz="1500" dirty="0" smtClean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Проекция</a:t>
            </a: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7" name="Google Shape;177;p36"/>
          <p:cNvSpPr/>
          <p:nvPr/>
        </p:nvSpPr>
        <p:spPr>
          <a:xfrm>
            <a:off x="4641875" y="1521148"/>
            <a:ext cx="3627000" cy="4263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270000" tIns="91425" rIns="270000" bIns="91425" anchor="ctr" anchorCtr="0">
            <a:noAutofit/>
          </a:bodyPr>
          <a:lstStyle/>
          <a:p>
            <a:pPr lvl="0"/>
            <a:r>
              <a:rPr lang="ru-RU" dirty="0" smtClean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6. Секционирование данных</a:t>
            </a:r>
            <a:endParaRPr lang="ru-RU" sz="12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8" name="Google Shape;178;p36"/>
          <p:cNvSpPr/>
          <p:nvPr/>
        </p:nvSpPr>
        <p:spPr>
          <a:xfrm>
            <a:off x="680150" y="2852327"/>
            <a:ext cx="3384900" cy="4263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270000" tIns="91425" rIns="270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3. </a:t>
            </a:r>
            <a:r>
              <a:rPr lang="ru" sz="1500" dirty="0" smtClean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Операции с наборами</a:t>
            </a:r>
            <a:endParaRPr sz="1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9" name="Google Shape;179;p36"/>
          <p:cNvSpPr/>
          <p:nvPr/>
        </p:nvSpPr>
        <p:spPr>
          <a:xfrm>
            <a:off x="680150" y="3517925"/>
            <a:ext cx="3384900" cy="4263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270000" tIns="91425" rIns="270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4. </a:t>
            </a:r>
            <a:r>
              <a:rPr lang="ru" dirty="0" smtClean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Сортировка данных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0" name="Google Shape;180;p36"/>
          <p:cNvSpPr/>
          <p:nvPr/>
        </p:nvSpPr>
        <p:spPr>
          <a:xfrm>
            <a:off x="4641869" y="2186725"/>
            <a:ext cx="3627000" cy="4263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270000" tIns="91425" rIns="270000" bIns="91425" anchor="ctr" anchorCtr="0">
            <a:noAutofit/>
          </a:bodyPr>
          <a:lstStyle/>
          <a:p>
            <a:pPr lvl="0"/>
            <a:r>
              <a:rPr lang="ru-RU" sz="1200" dirty="0" smtClean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7. </a:t>
            </a:r>
            <a:r>
              <a:rPr lang="ru-RU" sz="1200" dirty="0" smtClean="0">
                <a:latin typeface="Roboto" charset="0"/>
                <a:ea typeface="Roboto" charset="0"/>
              </a:rPr>
              <a:t>Преобразование(конвертация</a:t>
            </a:r>
            <a:r>
              <a:rPr lang="ru-RU" sz="1200" dirty="0" smtClean="0"/>
              <a:t>) данных</a:t>
            </a:r>
            <a:endParaRPr lang="ru-RU" sz="12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1" name="Google Shape;181;p36"/>
          <p:cNvSpPr/>
          <p:nvPr/>
        </p:nvSpPr>
        <p:spPr>
          <a:xfrm>
            <a:off x="4641869" y="2852300"/>
            <a:ext cx="3627000" cy="4263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270000" tIns="91425" rIns="270000" bIns="91425" anchor="ctr" anchorCtr="0">
            <a:noAutofit/>
          </a:bodyPr>
          <a:lstStyle/>
          <a:p>
            <a:pPr lvl="0"/>
            <a:r>
              <a:rPr lang="ru-RU" dirty="0" smtClean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8. </a:t>
            </a:r>
            <a:r>
              <a:rPr lang="ru-RU" dirty="0" smtClean="0">
                <a:latin typeface="Roboto" charset="0"/>
                <a:ea typeface="Roboto" charset="0"/>
              </a:rPr>
              <a:t>Операции соединения</a:t>
            </a:r>
            <a:endParaRPr lang="ru-RU" dirty="0">
              <a:solidFill>
                <a:schemeClr val="dk1"/>
              </a:solidFill>
              <a:latin typeface="Roboto" charset="0"/>
              <a:ea typeface="Roboto" charset="0"/>
              <a:cs typeface="Roboto"/>
              <a:sym typeface="Roboto"/>
            </a:endParaRPr>
          </a:p>
        </p:txBody>
      </p:sp>
      <p:sp>
        <p:nvSpPr>
          <p:cNvPr id="182" name="Google Shape;182;p36"/>
          <p:cNvSpPr/>
          <p:nvPr/>
        </p:nvSpPr>
        <p:spPr>
          <a:xfrm>
            <a:off x="4641869" y="3517875"/>
            <a:ext cx="3627000" cy="4263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270000" tIns="91425" rIns="270000" bIns="91425" anchor="ctr" anchorCtr="0">
            <a:noAutofit/>
          </a:bodyPr>
          <a:lstStyle/>
          <a:p>
            <a:pPr lvl="0"/>
            <a:r>
              <a:rPr lang="en-US" sz="1500" dirty="0" smtClean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9</a:t>
            </a:r>
            <a:r>
              <a:rPr lang="ru" sz="1500" dirty="0" smtClean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. </a:t>
            </a:r>
            <a:r>
              <a:rPr lang="ru-RU" dirty="0" smtClean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Группировка</a:t>
            </a:r>
            <a:r>
              <a:rPr lang="ru-RU" sz="1500" dirty="0" smtClean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элементов</a:t>
            </a: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" name="Google Shape;177;p36"/>
          <p:cNvSpPr/>
          <p:nvPr/>
        </p:nvSpPr>
        <p:spPr>
          <a:xfrm>
            <a:off x="659597" y="4178208"/>
            <a:ext cx="3395568" cy="4263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270000" tIns="91425" rIns="270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5. </a:t>
            </a:r>
            <a:r>
              <a:rPr lang="ru" dirty="0" smtClean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Квантификаторы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" name="Google Shape;182;p36"/>
          <p:cNvSpPr/>
          <p:nvPr/>
        </p:nvSpPr>
        <p:spPr>
          <a:xfrm>
            <a:off x="4641869" y="4167231"/>
            <a:ext cx="3627000" cy="4263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270000" tIns="91425" rIns="270000" bIns="91425" anchor="ctr" anchorCtr="0">
            <a:noAutofit/>
          </a:bodyPr>
          <a:lstStyle/>
          <a:p>
            <a:pPr lvl="0"/>
            <a:r>
              <a:rPr lang="en-US" sz="1500" dirty="0" smtClean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10</a:t>
            </a:r>
            <a:r>
              <a:rPr lang="ru" sz="1500" dirty="0" smtClean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. </a:t>
            </a:r>
            <a:r>
              <a:rPr lang="ru-RU" sz="1500" dirty="0" smtClean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Ответы на вопросы</a:t>
            </a: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43"/>
          <p:cNvSpPr txBox="1">
            <a:spLocks noGrp="1"/>
          </p:cNvSpPr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Цели вебинара</a:t>
            </a:r>
            <a:endParaRPr dirty="0"/>
          </a:p>
        </p:txBody>
      </p:sp>
      <p:graphicFrame>
        <p:nvGraphicFramePr>
          <p:cNvPr id="242" name="Google Shape;242;p43"/>
          <p:cNvGraphicFramePr/>
          <p:nvPr>
            <p:extLst>
              <p:ext uri="{D42A27DB-BD31-4B8C-83A1-F6EECF244321}">
                <p14:modId xmlns:p14="http://schemas.microsoft.com/office/powerpoint/2010/main" val="2263411008"/>
              </p:ext>
            </p:extLst>
          </p:nvPr>
        </p:nvGraphicFramePr>
        <p:xfrm>
          <a:off x="952500" y="1544194"/>
          <a:ext cx="7239000" cy="1147542"/>
        </p:xfrm>
        <a:graphic>
          <a:graphicData uri="http://schemas.openxmlformats.org/drawingml/2006/table">
            <a:tbl>
              <a:tblPr>
                <a:noFill/>
                <a:tableStyleId>{94049BB3-00C0-4E36-B14F-18F9014FF099}</a:tableStyleId>
              </a:tblPr>
              <a:tblGrid>
                <a:gridCol w="489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49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b="1" dirty="0">
                          <a:solidFill>
                            <a:srgbClr val="FF77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b="1">
                        <a:solidFill>
                          <a:srgbClr val="FF77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dirty="0" smtClean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Узнать про все операции, доступные</a:t>
                      </a:r>
                      <a:r>
                        <a:rPr lang="ru-RU" baseline="0" dirty="0" smtClean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 в </a:t>
                      </a:r>
                      <a:r>
                        <a:rPr lang="en-US" baseline="0" dirty="0" err="1" smtClean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linq</a:t>
                      </a:r>
                      <a:r>
                        <a:rPr lang="en-US" baseline="0" dirty="0" smtClean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-</a:t>
                      </a:r>
                      <a:r>
                        <a:rPr lang="ru-RU" baseline="0" dirty="0" smtClean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запросах</a:t>
                      </a:r>
                      <a:endParaRPr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b="1" dirty="0">
                          <a:solidFill>
                            <a:srgbClr val="FF77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  <a:endParaRPr b="1">
                        <a:solidFill>
                          <a:srgbClr val="FF77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dirty="0" smtClean="0">
                          <a:solidFill>
                            <a:srgbClr val="3F3F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Узнать</a:t>
                      </a:r>
                      <a:r>
                        <a:rPr lang="ru-RU" baseline="0" dirty="0" smtClean="0">
                          <a:solidFill>
                            <a:srgbClr val="3F3F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какие операторы используются в операциях из п.1</a:t>
                      </a:r>
                      <a:endParaRPr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b="1">
                          <a:solidFill>
                            <a:srgbClr val="FF77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3.</a:t>
                      </a:r>
                      <a:endParaRPr b="1">
                        <a:solidFill>
                          <a:srgbClr val="FF77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dirty="0" smtClean="0">
                          <a:solidFill>
                            <a:srgbClr val="3F3F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Практика</a:t>
                      </a:r>
                      <a:r>
                        <a:rPr lang="ru-RU" baseline="0" dirty="0" smtClean="0">
                          <a:solidFill>
                            <a:srgbClr val="3F3F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в навыках описания запросов</a:t>
                      </a:r>
                      <a:endParaRPr lang="en-US" dirty="0" smtClean="0">
                        <a:solidFill>
                          <a:srgbClr val="3F3F3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243" name="Google Shape;243;p4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077621" y="258179"/>
            <a:ext cx="652375" cy="652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72"/>
          <p:cNvSpPr txBox="1">
            <a:spLocks noGrp="1"/>
          </p:cNvSpPr>
          <p:nvPr>
            <p:ph type="title"/>
          </p:nvPr>
        </p:nvSpPr>
        <p:spPr>
          <a:xfrm>
            <a:off x="956225" y="396400"/>
            <a:ext cx="6931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 smtClean="0"/>
              <a:t>Операции </a:t>
            </a:r>
            <a:r>
              <a:rPr lang="en-US" dirty="0" err="1" smtClean="0"/>
              <a:t>linq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74"/>
          <p:cNvSpPr txBox="1">
            <a:spLocks noGrp="1"/>
          </p:cNvSpPr>
          <p:nvPr>
            <p:ph type="title"/>
          </p:nvPr>
        </p:nvSpPr>
        <p:spPr>
          <a:xfrm>
            <a:off x="500550" y="330725"/>
            <a:ext cx="8190300" cy="67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800" dirty="0" smtClean="0"/>
              <a:t>Операции </a:t>
            </a:r>
            <a:r>
              <a:rPr lang="en-US" sz="2800" dirty="0" err="1" smtClean="0"/>
              <a:t>Linq</a:t>
            </a:r>
            <a:endParaRPr sz="2800" dirty="0"/>
          </a:p>
        </p:txBody>
      </p:sp>
      <p:sp>
        <p:nvSpPr>
          <p:cNvPr id="438" name="Google Shape;438;p74"/>
          <p:cNvSpPr txBox="1"/>
          <p:nvPr/>
        </p:nvSpPr>
        <p:spPr>
          <a:xfrm>
            <a:off x="605085" y="906163"/>
            <a:ext cx="8092200" cy="38710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342900" lvl="0" indent="-34290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AutoNum type="arabicPeriod"/>
            </a:pPr>
            <a:r>
              <a:rPr lang="ru-RU" sz="1300" b="1" dirty="0" smtClean="0">
                <a:latin typeface="Roboto"/>
                <a:ea typeface="Roboto"/>
                <a:cs typeface="Roboto"/>
                <a:sym typeface="Roboto"/>
                <a:hlinkClick r:id="rId3"/>
              </a:rPr>
              <a:t>Фильтрация</a:t>
            </a:r>
            <a:endParaRPr lang="ru-RU" sz="1300" b="1" dirty="0" smtClean="0">
              <a:latin typeface="Roboto"/>
              <a:ea typeface="Roboto"/>
              <a:cs typeface="Roboto"/>
              <a:sym typeface="Roboto"/>
            </a:endParaRPr>
          </a:p>
          <a:p>
            <a:pPr marL="342900" lvl="0" indent="-34290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AutoNum type="arabicPeriod"/>
            </a:pPr>
            <a:r>
              <a:rPr lang="ru-RU" sz="1300" b="1" dirty="0" smtClean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  <a:hlinkClick r:id="rId4"/>
              </a:rPr>
              <a:t>Проекция</a:t>
            </a:r>
            <a:endParaRPr lang="ru-RU" sz="1300" b="1" dirty="0" smtClean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342900" lvl="0" indent="-34290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AutoNum type="arabicPeriod"/>
            </a:pPr>
            <a:r>
              <a:rPr lang="ru-RU" sz="1300" b="1" dirty="0" smtClean="0">
                <a:latin typeface="Roboto"/>
                <a:ea typeface="Roboto"/>
                <a:cs typeface="Roboto"/>
                <a:sym typeface="Roboto"/>
                <a:hlinkClick r:id="rId5"/>
              </a:rPr>
              <a:t>Наборы данных</a:t>
            </a:r>
            <a:endParaRPr lang="ru-RU" sz="1300" b="1" dirty="0" smtClean="0">
              <a:latin typeface="Roboto"/>
              <a:ea typeface="Roboto"/>
              <a:cs typeface="Roboto"/>
              <a:sym typeface="Roboto"/>
            </a:endParaRPr>
          </a:p>
          <a:p>
            <a:pPr marL="342900" lvl="0" indent="-34290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AutoNum type="arabicPeriod"/>
            </a:pPr>
            <a:r>
              <a:rPr lang="ru-RU" sz="1300" b="1" dirty="0" smtClean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  <a:hlinkClick r:id="rId6"/>
              </a:rPr>
              <a:t>Сортировка</a:t>
            </a:r>
            <a:endParaRPr lang="ru-RU" sz="1300" b="1" dirty="0" smtClean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342900" lvl="0" indent="-34290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AutoNum type="arabicPeriod"/>
            </a:pPr>
            <a:r>
              <a:rPr lang="ru-RU" sz="1300" b="1" dirty="0" smtClean="0">
                <a:latin typeface="Roboto"/>
                <a:ea typeface="Roboto"/>
                <a:cs typeface="Roboto"/>
                <a:sym typeface="Roboto"/>
                <a:hlinkClick r:id="rId7"/>
              </a:rPr>
              <a:t>Квантификаторы</a:t>
            </a:r>
            <a:endParaRPr lang="ru-RU" sz="1300" b="1" dirty="0" smtClean="0">
              <a:latin typeface="Roboto"/>
              <a:ea typeface="Roboto"/>
              <a:cs typeface="Roboto"/>
              <a:sym typeface="Roboto"/>
            </a:endParaRPr>
          </a:p>
          <a:p>
            <a:pPr marL="342900" lvl="0" indent="-34290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AutoNum type="arabicPeriod"/>
            </a:pPr>
            <a:r>
              <a:rPr lang="ru-RU" sz="1300" b="1" dirty="0" smtClean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  <a:hlinkClick r:id="rId8"/>
              </a:rPr>
              <a:t>Секционирование</a:t>
            </a:r>
            <a:r>
              <a:rPr lang="ru-RU" sz="1300" b="1" dirty="0" smtClean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</a:p>
          <a:p>
            <a:pPr marL="342900" lvl="0" indent="-34290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AutoNum type="arabicPeriod"/>
            </a:pPr>
            <a:r>
              <a:rPr lang="ru-RU" sz="1300" b="1" dirty="0" smtClean="0">
                <a:latin typeface="Roboto"/>
                <a:ea typeface="Roboto"/>
                <a:cs typeface="Roboto"/>
                <a:sym typeface="Roboto"/>
                <a:hlinkClick r:id="rId9"/>
              </a:rPr>
              <a:t>Конвертация данных</a:t>
            </a:r>
            <a:endParaRPr lang="ru-RU" sz="1300" b="1" dirty="0" smtClean="0">
              <a:latin typeface="Roboto"/>
              <a:ea typeface="Roboto"/>
              <a:cs typeface="Roboto"/>
              <a:sym typeface="Roboto"/>
            </a:endParaRPr>
          </a:p>
          <a:p>
            <a:pPr marL="342900" lvl="0" indent="-34290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AutoNum type="arabicPeriod"/>
            </a:pPr>
            <a:r>
              <a:rPr lang="ru-RU" sz="1300" b="1" dirty="0" smtClean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  <a:hlinkClick r:id="rId10"/>
              </a:rPr>
              <a:t>Операции соединения</a:t>
            </a:r>
            <a:endParaRPr lang="ru-RU" sz="1300" b="1" dirty="0" smtClean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342900" lvl="0" indent="-34290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AutoNum type="arabicPeriod"/>
            </a:pPr>
            <a:r>
              <a:rPr lang="ru-RU" sz="1300" b="1" dirty="0" smtClean="0">
                <a:latin typeface="Roboto"/>
                <a:ea typeface="Roboto"/>
                <a:cs typeface="Roboto"/>
                <a:sym typeface="Roboto"/>
                <a:hlinkClick r:id="rId11"/>
              </a:rPr>
              <a:t>Группировка данных</a:t>
            </a:r>
            <a:endParaRPr sz="1300" b="1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72"/>
          <p:cNvSpPr txBox="1">
            <a:spLocks noGrp="1"/>
          </p:cNvSpPr>
          <p:nvPr>
            <p:ph type="title"/>
          </p:nvPr>
        </p:nvSpPr>
        <p:spPr>
          <a:xfrm>
            <a:off x="956225" y="396400"/>
            <a:ext cx="6931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 smtClean="0"/>
              <a:t>Фильтрация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6824768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74"/>
          <p:cNvSpPr txBox="1">
            <a:spLocks noGrp="1"/>
          </p:cNvSpPr>
          <p:nvPr>
            <p:ph type="title"/>
          </p:nvPr>
        </p:nvSpPr>
        <p:spPr>
          <a:xfrm>
            <a:off x="500550" y="330725"/>
            <a:ext cx="8190300" cy="67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800" dirty="0" smtClean="0"/>
              <a:t>Фильтрация</a:t>
            </a:r>
            <a:endParaRPr sz="2800" dirty="0"/>
          </a:p>
        </p:txBody>
      </p:sp>
      <p:sp>
        <p:nvSpPr>
          <p:cNvPr id="438" name="Google Shape;438;p74"/>
          <p:cNvSpPr txBox="1"/>
          <p:nvPr/>
        </p:nvSpPr>
        <p:spPr>
          <a:xfrm>
            <a:off x="598600" y="1009925"/>
            <a:ext cx="8092200" cy="8242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</a:pPr>
            <a:r>
              <a:rPr lang="ru-RU" sz="1300" b="1" dirty="0" smtClean="0">
                <a:latin typeface="Roboto"/>
                <a:ea typeface="Roboto"/>
                <a:cs typeface="Roboto"/>
                <a:sym typeface="Roboto"/>
              </a:rPr>
              <a:t>Фильтрация</a:t>
            </a:r>
            <a:r>
              <a:rPr lang="ru-RU" sz="1300" dirty="0" smtClean="0">
                <a:latin typeface="Roboto"/>
                <a:ea typeface="Roboto"/>
                <a:cs typeface="Roboto"/>
                <a:sym typeface="Roboto"/>
              </a:rPr>
              <a:t> – это операция, результатом которой будет набор значений, подходящий под определенное условие.</a:t>
            </a:r>
          </a:p>
        </p:txBody>
      </p:sp>
      <p:pic>
        <p:nvPicPr>
          <p:cNvPr id="1026" name="Picture 2" descr="https://learn.microsoft.com/en-us/dotnet/csharp/linq/standard-query-operators/media/filtering-data/linq-filter-operation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9992" y="1961322"/>
            <a:ext cx="2952750" cy="1276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463130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74"/>
          <p:cNvSpPr txBox="1">
            <a:spLocks noGrp="1"/>
          </p:cNvSpPr>
          <p:nvPr>
            <p:ph type="title"/>
          </p:nvPr>
        </p:nvSpPr>
        <p:spPr>
          <a:xfrm>
            <a:off x="500550" y="330725"/>
            <a:ext cx="8190300" cy="67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ru-RU" dirty="0" smtClean="0"/>
              <a:t>Фильтрация</a:t>
            </a:r>
            <a:endParaRPr lang="ru-RU" dirty="0"/>
          </a:p>
        </p:txBody>
      </p:sp>
      <p:sp>
        <p:nvSpPr>
          <p:cNvPr id="438" name="Google Shape;438;p74"/>
          <p:cNvSpPr txBox="1"/>
          <p:nvPr/>
        </p:nvSpPr>
        <p:spPr>
          <a:xfrm>
            <a:off x="598600" y="1009925"/>
            <a:ext cx="8092200" cy="1466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>
              <a:lnSpc>
                <a:spcPct val="115000"/>
              </a:lnSpc>
              <a:spcBef>
                <a:spcPts val="1400"/>
              </a:spcBef>
            </a:pPr>
            <a:r>
              <a:rPr lang="ru-RU" dirty="0" smtClean="0"/>
              <a:t>Фильтрация данных в </a:t>
            </a:r>
            <a:r>
              <a:rPr lang="en-US" dirty="0" err="1" smtClean="0"/>
              <a:t>linq</a:t>
            </a:r>
            <a:r>
              <a:rPr lang="en-US" dirty="0" smtClean="0"/>
              <a:t> </a:t>
            </a:r>
            <a:r>
              <a:rPr lang="ru-RU" dirty="0" smtClean="0"/>
              <a:t>представлена следующими методами:</a:t>
            </a:r>
          </a:p>
          <a:p>
            <a:pPr lvl="0">
              <a:lnSpc>
                <a:spcPct val="115000"/>
              </a:lnSpc>
              <a:spcBef>
                <a:spcPts val="1400"/>
              </a:spcBef>
            </a:pPr>
            <a:r>
              <a:rPr lang="en-US" u="sng" dirty="0" err="1" smtClean="0">
                <a:hlinkClick r:id="rId3"/>
              </a:rPr>
              <a:t>OfType</a:t>
            </a:r>
            <a:r>
              <a:rPr lang="ru-RU" dirty="0" smtClean="0"/>
              <a:t> – фильтрует данные по типу</a:t>
            </a:r>
            <a:r>
              <a:rPr lang="en-US" dirty="0" smtClean="0"/>
              <a:t>;</a:t>
            </a:r>
            <a:endParaRPr lang="ru-RU" dirty="0" smtClean="0"/>
          </a:p>
          <a:p>
            <a:pPr lvl="0">
              <a:lnSpc>
                <a:spcPct val="115000"/>
              </a:lnSpc>
              <a:spcBef>
                <a:spcPts val="1400"/>
              </a:spcBef>
            </a:pPr>
            <a:r>
              <a:rPr lang="en-US" u="sng" dirty="0" smtClean="0">
                <a:hlinkClick r:id="rId4"/>
              </a:rPr>
              <a:t>Where</a:t>
            </a:r>
            <a:r>
              <a:rPr lang="ru-RU" sz="1200" dirty="0" smtClean="0"/>
              <a:t> </a:t>
            </a:r>
            <a:r>
              <a:rPr lang="en-US" sz="1200" dirty="0" smtClean="0"/>
              <a:t>– </a:t>
            </a:r>
            <a:r>
              <a:rPr lang="ru-RU" dirty="0" smtClean="0"/>
              <a:t>фильтрует значения по условию (в декларативном синтаксисе - </a:t>
            </a:r>
            <a:r>
              <a:rPr lang="en-US" dirty="0" smtClean="0">
                <a:solidFill>
                  <a:schemeClr val="accent1">
                    <a:lumMod val="75000"/>
                  </a:schemeClr>
                </a:solidFill>
              </a:rPr>
              <a:t>where</a:t>
            </a:r>
            <a:r>
              <a:rPr lang="ru-RU" dirty="0" smtClean="0"/>
              <a:t>)</a:t>
            </a:r>
            <a:r>
              <a:rPr lang="en-US" dirty="0" smtClean="0"/>
              <a:t>.</a:t>
            </a:r>
            <a:endParaRPr lang="en-US" dirty="0" smtClean="0">
              <a:latin typeface="Roboto"/>
              <a:ea typeface="Roboto"/>
              <a:cs typeface="Roboto"/>
              <a:sym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34132173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72"/>
          <p:cNvSpPr txBox="1">
            <a:spLocks noGrp="1"/>
          </p:cNvSpPr>
          <p:nvPr>
            <p:ph type="title"/>
          </p:nvPr>
        </p:nvSpPr>
        <p:spPr>
          <a:xfrm>
            <a:off x="956225" y="396400"/>
            <a:ext cx="6931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 smtClean="0"/>
              <a:t>Проекция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625658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74"/>
          <p:cNvSpPr txBox="1">
            <a:spLocks noGrp="1"/>
          </p:cNvSpPr>
          <p:nvPr>
            <p:ph type="title"/>
          </p:nvPr>
        </p:nvSpPr>
        <p:spPr>
          <a:xfrm>
            <a:off x="500550" y="330725"/>
            <a:ext cx="8190300" cy="67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800" dirty="0" smtClean="0"/>
              <a:t>Проекция</a:t>
            </a:r>
            <a:endParaRPr sz="2800" dirty="0"/>
          </a:p>
        </p:txBody>
      </p:sp>
      <p:sp>
        <p:nvSpPr>
          <p:cNvPr id="438" name="Google Shape;438;p74"/>
          <p:cNvSpPr txBox="1"/>
          <p:nvPr/>
        </p:nvSpPr>
        <p:spPr>
          <a:xfrm>
            <a:off x="598600" y="1009925"/>
            <a:ext cx="8092200" cy="8242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>
              <a:lnSpc>
                <a:spcPct val="115000"/>
              </a:lnSpc>
              <a:spcBef>
                <a:spcPts val="1400"/>
              </a:spcBef>
            </a:pPr>
            <a:r>
              <a:rPr lang="ru-RU" sz="1300" b="1" dirty="0" smtClean="0">
                <a:latin typeface="Roboto"/>
                <a:ea typeface="Roboto"/>
                <a:cs typeface="Roboto"/>
                <a:sym typeface="Roboto"/>
              </a:rPr>
              <a:t>Проекция</a:t>
            </a:r>
            <a:r>
              <a:rPr lang="ru-RU" sz="1300" dirty="0" smtClean="0">
                <a:latin typeface="Roboto"/>
                <a:ea typeface="Roboto"/>
                <a:cs typeface="Roboto"/>
                <a:sym typeface="Roboto"/>
              </a:rPr>
              <a:t> – это операция</a:t>
            </a:r>
            <a:r>
              <a:rPr lang="en-US" sz="1300" dirty="0" smtClean="0"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ru-RU" sz="1300" dirty="0" smtClean="0">
                <a:latin typeface="Roboto"/>
                <a:ea typeface="Roboto"/>
                <a:cs typeface="Roboto"/>
                <a:sym typeface="Roboto"/>
              </a:rPr>
              <a:t>преобразования объекта в новую форму, </a:t>
            </a:r>
            <a:r>
              <a:rPr lang="ru-RU" sz="1200" dirty="0" smtClean="0"/>
              <a:t>которая часто состоит только из этих свойств, которые впоследствии используются</a:t>
            </a:r>
            <a:r>
              <a:rPr lang="ru-RU" sz="1300" dirty="0" smtClean="0">
                <a:latin typeface="Roboto"/>
                <a:ea typeface="Roboto"/>
                <a:cs typeface="Roboto"/>
                <a:sym typeface="Roboto"/>
              </a:rPr>
              <a:t>.</a:t>
            </a:r>
          </a:p>
        </p:txBody>
      </p:sp>
      <p:pic>
        <p:nvPicPr>
          <p:cNvPr id="53250" name="Picture 2" descr="[Курс «Автоматизация Revit на языке C#: базовый уровень»] LINQ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087218" y="1733550"/>
            <a:ext cx="4785138" cy="269164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808355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74"/>
          <p:cNvSpPr txBox="1">
            <a:spLocks noGrp="1"/>
          </p:cNvSpPr>
          <p:nvPr>
            <p:ph type="title"/>
          </p:nvPr>
        </p:nvSpPr>
        <p:spPr>
          <a:xfrm>
            <a:off x="500550" y="330725"/>
            <a:ext cx="8190300" cy="67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ru-RU" dirty="0" smtClean="0"/>
              <a:t>Проекция</a:t>
            </a:r>
            <a:endParaRPr lang="ru-RU" dirty="0"/>
          </a:p>
        </p:txBody>
      </p:sp>
      <p:sp>
        <p:nvSpPr>
          <p:cNvPr id="438" name="Google Shape;438;p74"/>
          <p:cNvSpPr txBox="1"/>
          <p:nvPr/>
        </p:nvSpPr>
        <p:spPr>
          <a:xfrm>
            <a:off x="598600" y="1009925"/>
            <a:ext cx="8092200" cy="288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>
              <a:lnSpc>
                <a:spcPct val="115000"/>
              </a:lnSpc>
              <a:spcBef>
                <a:spcPts val="1400"/>
              </a:spcBef>
            </a:pPr>
            <a:r>
              <a:rPr lang="ru-RU" dirty="0" smtClean="0"/>
              <a:t>Проекция данных в </a:t>
            </a:r>
            <a:r>
              <a:rPr lang="en-US" dirty="0" err="1" smtClean="0"/>
              <a:t>linq</a:t>
            </a:r>
            <a:r>
              <a:rPr lang="en-US" dirty="0" smtClean="0"/>
              <a:t> </a:t>
            </a:r>
            <a:r>
              <a:rPr lang="ru-RU" dirty="0" smtClean="0"/>
              <a:t>представлена следующими методами:</a:t>
            </a:r>
          </a:p>
          <a:p>
            <a:pPr lvl="0">
              <a:lnSpc>
                <a:spcPct val="115000"/>
              </a:lnSpc>
              <a:spcBef>
                <a:spcPts val="1400"/>
              </a:spcBef>
            </a:pPr>
            <a:r>
              <a:rPr lang="en-US" u="sng" dirty="0" smtClean="0">
                <a:hlinkClick r:id="rId3"/>
              </a:rPr>
              <a:t>Select</a:t>
            </a:r>
            <a:r>
              <a:rPr lang="ru-RU" dirty="0" smtClean="0"/>
              <a:t> – проецирует значения, которые основаны на функции преобразования (в декларативном синтаксисе также </a:t>
            </a:r>
            <a:r>
              <a:rPr lang="en-US" dirty="0" smtClean="0">
                <a:solidFill>
                  <a:schemeClr val="accent1">
                    <a:lumMod val="75000"/>
                  </a:schemeClr>
                </a:solidFill>
              </a:rPr>
              <a:t>select</a:t>
            </a:r>
            <a:r>
              <a:rPr lang="ru-RU" dirty="0" smtClean="0"/>
              <a:t>)</a:t>
            </a:r>
            <a:endParaRPr lang="ru-RU" u="sng" dirty="0" smtClean="0"/>
          </a:p>
          <a:p>
            <a:pPr lvl="0">
              <a:lnSpc>
                <a:spcPct val="115000"/>
              </a:lnSpc>
              <a:spcBef>
                <a:spcPts val="1400"/>
              </a:spcBef>
            </a:pPr>
            <a:r>
              <a:rPr lang="en-US" u="sng" dirty="0" err="1" smtClean="0">
                <a:hlinkClick r:id="rId4"/>
              </a:rPr>
              <a:t>SelectMany</a:t>
            </a:r>
            <a:r>
              <a:rPr lang="en-US" dirty="0" smtClean="0"/>
              <a:t> </a:t>
            </a:r>
            <a:r>
              <a:rPr lang="ru-RU" dirty="0" smtClean="0"/>
              <a:t>– проецирует последовательности значений, основанных на функции преобразования, а затем выравнивает их в одну </a:t>
            </a:r>
            <a:r>
              <a:rPr lang="ru-RU" dirty="0" smtClean="0"/>
              <a:t>последовательность(в </a:t>
            </a:r>
            <a:r>
              <a:rPr lang="ru-RU" dirty="0" smtClean="0"/>
              <a:t>декларативном синтаксисе множественный </a:t>
            </a:r>
            <a:r>
              <a:rPr lang="en-US" dirty="0" smtClean="0">
                <a:solidFill>
                  <a:schemeClr val="accent1">
                    <a:lumMod val="75000"/>
                  </a:schemeClr>
                </a:solidFill>
              </a:rPr>
              <a:t>from</a:t>
            </a:r>
            <a:r>
              <a:rPr lang="ru-RU" dirty="0" smtClean="0"/>
              <a:t>). Простыми словами: забирает последовательность из элемента коллекции и кладет его в результирующую последовательность.</a:t>
            </a:r>
          </a:p>
          <a:p>
            <a:pPr lvl="0">
              <a:lnSpc>
                <a:spcPct val="115000"/>
              </a:lnSpc>
              <a:spcBef>
                <a:spcPts val="1400"/>
              </a:spcBef>
            </a:pPr>
            <a:r>
              <a:rPr lang="en-US" u="sng" dirty="0" smtClean="0">
                <a:hlinkClick r:id="rId5"/>
              </a:rPr>
              <a:t>Zip</a:t>
            </a:r>
            <a:r>
              <a:rPr lang="ru-RU" dirty="0" smtClean="0"/>
              <a:t> – создает последовательность кортежей из 2-3 указанных последовательностей.</a:t>
            </a:r>
          </a:p>
        </p:txBody>
      </p:sp>
    </p:spTree>
    <p:extLst>
      <p:ext uri="{BB962C8B-B14F-4D97-AF65-F5344CB8AC3E}">
        <p14:creationId xmlns:p14="http://schemas.microsoft.com/office/powerpoint/2010/main" val="34132173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72"/>
          <p:cNvSpPr txBox="1">
            <a:spLocks noGrp="1"/>
          </p:cNvSpPr>
          <p:nvPr>
            <p:ph type="title"/>
          </p:nvPr>
        </p:nvSpPr>
        <p:spPr>
          <a:xfrm>
            <a:off x="956225" y="396400"/>
            <a:ext cx="6931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 smtClean="0"/>
              <a:t>Операции над множествами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1189626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74"/>
          <p:cNvSpPr txBox="1">
            <a:spLocks noGrp="1"/>
          </p:cNvSpPr>
          <p:nvPr>
            <p:ph type="title"/>
          </p:nvPr>
        </p:nvSpPr>
        <p:spPr>
          <a:xfrm>
            <a:off x="500550" y="330725"/>
            <a:ext cx="8190300" cy="67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ru-RU" dirty="0"/>
              <a:t>Операции над множествами</a:t>
            </a:r>
          </a:p>
        </p:txBody>
      </p:sp>
      <p:sp>
        <p:nvSpPr>
          <p:cNvPr id="438" name="Google Shape;438;p74"/>
          <p:cNvSpPr txBox="1"/>
          <p:nvPr/>
        </p:nvSpPr>
        <p:spPr>
          <a:xfrm>
            <a:off x="500550" y="789705"/>
            <a:ext cx="8092200" cy="17294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</a:pPr>
            <a:r>
              <a:rPr lang="ru-RU" sz="1300" b="1" dirty="0" smtClean="0">
                <a:latin typeface="Roboto"/>
                <a:ea typeface="Roboto"/>
                <a:cs typeface="Roboto"/>
                <a:sym typeface="Roboto"/>
              </a:rPr>
              <a:t>Под </a:t>
            </a:r>
            <a:r>
              <a:rPr lang="ru-RU" sz="1300" b="1" dirty="0">
                <a:latin typeface="Roboto"/>
                <a:ea typeface="Roboto"/>
                <a:cs typeface="Roboto"/>
                <a:sym typeface="Roboto"/>
              </a:rPr>
              <a:t>о</a:t>
            </a:r>
            <a:r>
              <a:rPr lang="ru-RU" sz="1300" b="1" dirty="0" smtClean="0">
                <a:latin typeface="Roboto"/>
                <a:ea typeface="Roboto"/>
                <a:cs typeface="Roboto"/>
                <a:sym typeface="Roboto"/>
              </a:rPr>
              <a:t>перации над множествами</a:t>
            </a:r>
            <a:r>
              <a:rPr lang="ru-RU" sz="1300" dirty="0" smtClean="0">
                <a:latin typeface="Roboto"/>
                <a:ea typeface="Roboto"/>
                <a:cs typeface="Roboto"/>
                <a:sym typeface="Roboto"/>
              </a:rPr>
              <a:t> в данном случае понимаются операции запросов, которые создают результирующий набор присутствия или отсутствия эквивалентных элементов в одной или отдельной коллекциях.</a:t>
            </a:r>
          </a:p>
          <a:p>
            <a:pPr lvl="0">
              <a:lnSpc>
                <a:spcPct val="115000"/>
              </a:lnSpc>
              <a:spcBef>
                <a:spcPts val="1400"/>
              </a:spcBef>
            </a:pPr>
            <a:r>
              <a:rPr lang="en-US" u="sng" dirty="0">
                <a:hlinkClick r:id="rId3"/>
              </a:rPr>
              <a:t>Distinct</a:t>
            </a:r>
            <a:r>
              <a:rPr lang="en-US" sz="1300" dirty="0" smtClean="0"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ru-RU" sz="1300" dirty="0" smtClean="0">
                <a:latin typeface="Roboto"/>
                <a:ea typeface="Roboto"/>
                <a:cs typeface="Roboto"/>
                <a:sym typeface="Roboto"/>
              </a:rPr>
              <a:t>или </a:t>
            </a:r>
            <a:r>
              <a:rPr lang="en-US" dirty="0" err="1" smtClean="0">
                <a:hlinkClick r:id="rId4"/>
              </a:rPr>
              <a:t>DistinctBy</a:t>
            </a:r>
            <a:r>
              <a:rPr lang="ru-RU" dirty="0" smtClean="0"/>
              <a:t> – возвращает уникальные элементы последовательности. Можно также сказать, что удаляет дубликаты.</a:t>
            </a:r>
          </a:p>
        </p:txBody>
      </p:sp>
      <p:pic>
        <p:nvPicPr>
          <p:cNvPr id="4" name="Picture 2" descr="Graphic showing the behavior of Distinct()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8289" y="2749185"/>
            <a:ext cx="3457575" cy="371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Прямоугольник 1"/>
          <p:cNvSpPr/>
          <p:nvPr/>
        </p:nvSpPr>
        <p:spPr>
          <a:xfrm>
            <a:off x="500550" y="3208165"/>
            <a:ext cx="8037443" cy="5878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15000"/>
              </a:lnSpc>
              <a:spcBef>
                <a:spcPts val="1400"/>
              </a:spcBef>
            </a:pPr>
            <a:r>
              <a:rPr lang="en-US" dirty="0">
                <a:hlinkClick r:id="rId6"/>
              </a:rPr>
              <a:t>Except</a:t>
            </a:r>
            <a:r>
              <a:rPr lang="en-US" sz="1300" dirty="0"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ru-RU" sz="1300" dirty="0">
                <a:latin typeface="Roboto"/>
                <a:ea typeface="Roboto"/>
                <a:cs typeface="Roboto"/>
                <a:sym typeface="Roboto"/>
              </a:rPr>
              <a:t>или </a:t>
            </a:r>
            <a:r>
              <a:rPr lang="en-US" dirty="0" err="1">
                <a:hlinkClick r:id="rId7"/>
              </a:rPr>
              <a:t>ExceptBy</a:t>
            </a:r>
            <a:r>
              <a:rPr lang="ru-RU" dirty="0"/>
              <a:t> – возвращает набор значений, которые присутствуют в одной коллекции и отсутствуют в другой.</a:t>
            </a:r>
          </a:p>
        </p:txBody>
      </p:sp>
      <p:pic>
        <p:nvPicPr>
          <p:cNvPr id="2050" name="Picture 2" descr="Graphic showing the action of Except()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69835" y="3678819"/>
            <a:ext cx="2162175" cy="8096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054624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74"/>
          <p:cNvSpPr txBox="1">
            <a:spLocks noGrp="1"/>
          </p:cNvSpPr>
          <p:nvPr>
            <p:ph type="title"/>
          </p:nvPr>
        </p:nvSpPr>
        <p:spPr>
          <a:xfrm>
            <a:off x="500550" y="330725"/>
            <a:ext cx="8190300" cy="67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ru-RU" dirty="0"/>
              <a:t>Операции над множествами</a:t>
            </a:r>
          </a:p>
        </p:txBody>
      </p:sp>
      <p:sp>
        <p:nvSpPr>
          <p:cNvPr id="438" name="Google Shape;438;p74"/>
          <p:cNvSpPr txBox="1"/>
          <p:nvPr/>
        </p:nvSpPr>
        <p:spPr>
          <a:xfrm>
            <a:off x="549600" y="857525"/>
            <a:ext cx="8092200" cy="8596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>
              <a:lnSpc>
                <a:spcPct val="115000"/>
              </a:lnSpc>
              <a:spcBef>
                <a:spcPts val="1400"/>
              </a:spcBef>
            </a:pPr>
            <a:r>
              <a:rPr lang="en-US" u="sng" dirty="0">
                <a:hlinkClick r:id="rId3"/>
              </a:rPr>
              <a:t>Intersect</a:t>
            </a:r>
            <a:r>
              <a:rPr lang="en-US" sz="1300" dirty="0"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ru-RU" sz="1300" dirty="0">
                <a:latin typeface="Roboto"/>
                <a:ea typeface="Roboto"/>
                <a:cs typeface="Roboto"/>
                <a:sym typeface="Roboto"/>
              </a:rPr>
              <a:t>или </a:t>
            </a:r>
            <a:r>
              <a:rPr lang="en-US" dirty="0" err="1">
                <a:hlinkClick r:id="rId4"/>
              </a:rPr>
              <a:t>IntersectBy</a:t>
            </a:r>
            <a:r>
              <a:rPr lang="ru-RU" dirty="0"/>
              <a:t> – возвращает набор значений, которые встречаются в обоих коллекциях</a:t>
            </a:r>
            <a:r>
              <a:rPr lang="ru-RU" dirty="0" smtClean="0"/>
              <a:t>.</a:t>
            </a:r>
            <a:endParaRPr lang="ru-RU" dirty="0"/>
          </a:p>
        </p:txBody>
      </p:sp>
      <p:sp>
        <p:nvSpPr>
          <p:cNvPr id="2" name="Прямоугольник 1"/>
          <p:cNvSpPr/>
          <p:nvPr/>
        </p:nvSpPr>
        <p:spPr>
          <a:xfrm>
            <a:off x="549600" y="2597864"/>
            <a:ext cx="8092200" cy="5878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15000"/>
              </a:lnSpc>
              <a:spcBef>
                <a:spcPts val="1400"/>
              </a:spcBef>
            </a:pPr>
            <a:r>
              <a:rPr lang="en-US" u="sng" dirty="0">
                <a:hlinkClick r:id="rId5"/>
              </a:rPr>
              <a:t>Union</a:t>
            </a:r>
            <a:r>
              <a:rPr lang="en-US" sz="1300" dirty="0"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ru-RU" sz="1300" dirty="0">
                <a:latin typeface="Roboto"/>
                <a:ea typeface="Roboto"/>
                <a:cs typeface="Roboto"/>
                <a:sym typeface="Roboto"/>
              </a:rPr>
              <a:t>или </a:t>
            </a:r>
            <a:r>
              <a:rPr lang="en-US" dirty="0" err="1">
                <a:hlinkClick r:id="rId6"/>
              </a:rPr>
              <a:t>UnionBy</a:t>
            </a:r>
            <a:r>
              <a:rPr lang="ru-RU" dirty="0"/>
              <a:t> – возвращает набор уникальных значений, присутствующий в обоих коллекциях.</a:t>
            </a:r>
            <a:endParaRPr lang="ru-RU" sz="1300" dirty="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028" name="Picture 4" descr="Graphic showing the intersection of two sequences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5935" y="1717217"/>
            <a:ext cx="2686050" cy="8096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Graphic showing the union of two sequences.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5935" y="3368202"/>
            <a:ext cx="2686050" cy="8096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557659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72"/>
          <p:cNvSpPr txBox="1">
            <a:spLocks noGrp="1"/>
          </p:cNvSpPr>
          <p:nvPr>
            <p:ph type="title"/>
          </p:nvPr>
        </p:nvSpPr>
        <p:spPr>
          <a:xfrm>
            <a:off x="956225" y="396400"/>
            <a:ext cx="6931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ru-RU" dirty="0" smtClean="0"/>
              <a:t>Сортировка данных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4091154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74"/>
          <p:cNvSpPr txBox="1">
            <a:spLocks noGrp="1"/>
          </p:cNvSpPr>
          <p:nvPr>
            <p:ph type="title"/>
          </p:nvPr>
        </p:nvSpPr>
        <p:spPr>
          <a:xfrm>
            <a:off x="500550" y="330725"/>
            <a:ext cx="8190300" cy="67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ru-RU" dirty="0" smtClean="0"/>
              <a:t>Сортировка</a:t>
            </a:r>
            <a:r>
              <a:rPr lang="en-US" dirty="0" smtClean="0"/>
              <a:t> </a:t>
            </a:r>
            <a:r>
              <a:rPr lang="ru-RU" dirty="0" smtClean="0"/>
              <a:t>данных</a:t>
            </a:r>
            <a:endParaRPr lang="ru-RU" dirty="0"/>
          </a:p>
        </p:txBody>
      </p:sp>
      <p:sp>
        <p:nvSpPr>
          <p:cNvPr id="438" name="Google Shape;438;p74"/>
          <p:cNvSpPr txBox="1"/>
          <p:nvPr/>
        </p:nvSpPr>
        <p:spPr>
          <a:xfrm>
            <a:off x="500550" y="789705"/>
            <a:ext cx="8092200" cy="8596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>
              <a:lnSpc>
                <a:spcPct val="115000"/>
              </a:lnSpc>
              <a:spcBef>
                <a:spcPts val="1400"/>
              </a:spcBef>
            </a:pPr>
            <a:r>
              <a:rPr lang="ru-RU" dirty="0"/>
              <a:t>Операция сортировки упорядочивает элементы последовательности на основе одного или нескольких атрибутов</a:t>
            </a:r>
            <a:r>
              <a:rPr lang="ru-RU" dirty="0" smtClean="0"/>
              <a:t>.</a:t>
            </a:r>
          </a:p>
        </p:txBody>
      </p:sp>
      <p:sp>
        <p:nvSpPr>
          <p:cNvPr id="2" name="Прямоугольник 1"/>
          <p:cNvSpPr/>
          <p:nvPr/>
        </p:nvSpPr>
        <p:spPr>
          <a:xfrm>
            <a:off x="500549" y="2789065"/>
            <a:ext cx="8037443" cy="12629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15000"/>
              </a:lnSpc>
              <a:spcBef>
                <a:spcPts val="1400"/>
              </a:spcBef>
            </a:pPr>
            <a:r>
              <a:rPr lang="en-US" dirty="0" err="1" smtClean="0">
                <a:hlinkClick r:id="rId3"/>
              </a:rPr>
              <a:t>OrderBy</a:t>
            </a:r>
            <a:r>
              <a:rPr lang="ru-RU" dirty="0" smtClean="0"/>
              <a:t> – сортировка </a:t>
            </a:r>
            <a:r>
              <a:rPr lang="ru-RU" dirty="0"/>
              <a:t>значений в возрастающем порядке</a:t>
            </a:r>
            <a:r>
              <a:rPr lang="ru-RU" dirty="0" smtClean="0"/>
              <a:t>. В декларативном синтаксисе – оператор </a:t>
            </a:r>
            <a:r>
              <a:rPr lang="en-US" dirty="0" err="1" smtClean="0">
                <a:solidFill>
                  <a:schemeClr val="accent1">
                    <a:lumMod val="75000"/>
                  </a:schemeClr>
                </a:solidFill>
              </a:rPr>
              <a:t>orderby</a:t>
            </a:r>
            <a:r>
              <a:rPr lang="en-US" dirty="0" smtClean="0">
                <a:solidFill>
                  <a:schemeClr val="tx1"/>
                </a:solidFill>
              </a:rPr>
              <a:t> </a:t>
            </a:r>
            <a:r>
              <a:rPr lang="ru-RU" dirty="0" smtClean="0">
                <a:solidFill>
                  <a:schemeClr val="tx1"/>
                </a:solidFill>
              </a:rPr>
              <a:t>или </a:t>
            </a:r>
            <a:r>
              <a:rPr lang="en-US" dirty="0" err="1" smtClean="0">
                <a:solidFill>
                  <a:schemeClr val="accent1">
                    <a:lumMod val="75000"/>
                  </a:schemeClr>
                </a:solidFill>
              </a:rPr>
              <a:t>orderby</a:t>
            </a:r>
            <a:r>
              <a:rPr lang="ru-RU" dirty="0" smtClean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ascending</a:t>
            </a:r>
            <a:r>
              <a:rPr lang="en-US" dirty="0" smtClean="0"/>
              <a:t>.</a:t>
            </a:r>
            <a:endParaRPr lang="ru-RU" dirty="0" smtClean="0"/>
          </a:p>
          <a:p>
            <a:pPr lvl="0">
              <a:lnSpc>
                <a:spcPct val="115000"/>
              </a:lnSpc>
              <a:spcBef>
                <a:spcPts val="1400"/>
              </a:spcBef>
            </a:pPr>
            <a:r>
              <a:rPr lang="en-US" u="sng" dirty="0" err="1" smtClean="0">
                <a:hlinkClick r:id="rId4"/>
              </a:rPr>
              <a:t>OrderByDescending</a:t>
            </a:r>
            <a:r>
              <a:rPr lang="ru-RU" dirty="0" smtClean="0"/>
              <a:t> – сортировка </a:t>
            </a:r>
            <a:r>
              <a:rPr lang="ru-RU" dirty="0"/>
              <a:t>значений в убывающем порядке</a:t>
            </a:r>
            <a:r>
              <a:rPr lang="ru-RU" dirty="0" smtClean="0"/>
              <a:t>. </a:t>
            </a:r>
            <a:r>
              <a:rPr lang="ru-RU" dirty="0"/>
              <a:t>В декларативном синтаксисе – оператор </a:t>
            </a:r>
            <a:r>
              <a:rPr lang="en-US" dirty="0" err="1" smtClean="0">
                <a:solidFill>
                  <a:schemeClr val="accent1">
                    <a:lumMod val="75000"/>
                  </a:schemeClr>
                </a:solidFill>
              </a:rPr>
              <a:t>orderby</a:t>
            </a:r>
            <a:r>
              <a:rPr lang="ru-RU" dirty="0" smtClean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dirty="0" smtClean="0">
                <a:solidFill>
                  <a:schemeClr val="accent1">
                    <a:lumMod val="75000"/>
                  </a:schemeClr>
                </a:solidFill>
              </a:rPr>
              <a:t>descending</a:t>
            </a:r>
            <a:r>
              <a:rPr lang="en-US" dirty="0" smtClean="0"/>
              <a:t>.</a:t>
            </a:r>
            <a:endParaRPr lang="ru-RU" dirty="0" smtClean="0"/>
          </a:p>
        </p:txBody>
      </p:sp>
      <p:pic>
        <p:nvPicPr>
          <p:cNvPr id="3074" name="Picture 2" descr="Рисунок с операциями сортировки в алфавитном порядке.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28646" y="1560689"/>
            <a:ext cx="2381250" cy="1095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29022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74"/>
          <p:cNvSpPr txBox="1">
            <a:spLocks noGrp="1"/>
          </p:cNvSpPr>
          <p:nvPr>
            <p:ph type="title"/>
          </p:nvPr>
        </p:nvSpPr>
        <p:spPr>
          <a:xfrm>
            <a:off x="500550" y="330725"/>
            <a:ext cx="8190300" cy="67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ru-RU" dirty="0" smtClean="0"/>
              <a:t>Сортировка</a:t>
            </a:r>
            <a:r>
              <a:rPr lang="en-US" dirty="0" smtClean="0"/>
              <a:t> </a:t>
            </a:r>
            <a:r>
              <a:rPr lang="ru-RU" dirty="0" smtClean="0"/>
              <a:t>данных</a:t>
            </a:r>
            <a:endParaRPr lang="ru-RU" dirty="0"/>
          </a:p>
        </p:txBody>
      </p:sp>
      <p:sp>
        <p:nvSpPr>
          <p:cNvPr id="438" name="Google Shape;438;p74"/>
          <p:cNvSpPr txBox="1"/>
          <p:nvPr/>
        </p:nvSpPr>
        <p:spPr>
          <a:xfrm>
            <a:off x="500550" y="1292625"/>
            <a:ext cx="8092200" cy="22098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>
              <a:lnSpc>
                <a:spcPct val="115000"/>
              </a:lnSpc>
              <a:spcBef>
                <a:spcPts val="1400"/>
              </a:spcBef>
            </a:pPr>
            <a:r>
              <a:rPr lang="en-US" dirty="0" err="1">
                <a:hlinkClick r:id="rId3"/>
              </a:rPr>
              <a:t>ThenBy</a:t>
            </a:r>
            <a:r>
              <a:rPr lang="ru-RU" dirty="0"/>
              <a:t> – дополнительная сортировка по возрастанию</a:t>
            </a:r>
            <a:r>
              <a:rPr lang="ru-RU" dirty="0" smtClean="0"/>
              <a:t>. </a:t>
            </a:r>
            <a:r>
              <a:rPr lang="ru-RU" dirty="0"/>
              <a:t>В декларативном </a:t>
            </a:r>
            <a:r>
              <a:rPr lang="ru-RU" dirty="0" smtClean="0"/>
              <a:t>дополнительные </a:t>
            </a:r>
            <a:r>
              <a:rPr lang="ru-RU" dirty="0"/>
              <a:t>– </a:t>
            </a:r>
            <a:r>
              <a:rPr lang="ru-RU" dirty="0" smtClean="0"/>
              <a:t>операторы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</a:rPr>
              <a:t>orderby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ru-RU" dirty="0">
                <a:solidFill>
                  <a:schemeClr val="tx1"/>
                </a:solidFill>
              </a:rPr>
              <a:t>или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</a:rPr>
              <a:t>orderby</a:t>
            </a:r>
            <a:r>
              <a:rPr lang="ru-RU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dirty="0" smtClean="0">
                <a:solidFill>
                  <a:schemeClr val="accent1">
                    <a:lumMod val="75000"/>
                  </a:schemeClr>
                </a:solidFill>
              </a:rPr>
              <a:t>ascending</a:t>
            </a:r>
            <a:r>
              <a:rPr lang="ru-RU" dirty="0" smtClean="0">
                <a:solidFill>
                  <a:schemeClr val="accent1">
                    <a:lumMod val="75000"/>
                  </a:schemeClr>
                </a:solidFill>
              </a:rPr>
              <a:t>.</a:t>
            </a:r>
            <a:endParaRPr lang="ru-RU" dirty="0"/>
          </a:p>
          <a:p>
            <a:pPr lvl="0">
              <a:lnSpc>
                <a:spcPct val="115000"/>
              </a:lnSpc>
              <a:spcBef>
                <a:spcPts val="1400"/>
              </a:spcBef>
            </a:pPr>
            <a:r>
              <a:rPr lang="en-US" dirty="0" err="1">
                <a:hlinkClick r:id="rId4"/>
              </a:rPr>
              <a:t>ThenByDescending</a:t>
            </a:r>
            <a:r>
              <a:rPr lang="ru-RU" dirty="0"/>
              <a:t> – дополнительная сортировка по убыванию</a:t>
            </a:r>
            <a:r>
              <a:rPr lang="ru-RU" dirty="0" smtClean="0"/>
              <a:t>. </a:t>
            </a:r>
            <a:r>
              <a:rPr lang="ru-RU" dirty="0"/>
              <a:t>В декларативном синтаксисе </a:t>
            </a:r>
            <a:r>
              <a:rPr lang="ru-RU" dirty="0" smtClean="0"/>
              <a:t>дополнительные </a:t>
            </a:r>
            <a:r>
              <a:rPr lang="en-US" dirty="0" err="1" smtClean="0">
                <a:solidFill>
                  <a:schemeClr val="accent1">
                    <a:lumMod val="75000"/>
                  </a:schemeClr>
                </a:solidFill>
              </a:rPr>
              <a:t>orderby</a:t>
            </a:r>
            <a:r>
              <a:rPr lang="ru-RU" dirty="0" smtClean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descending</a:t>
            </a:r>
            <a:r>
              <a:rPr lang="en-US" dirty="0"/>
              <a:t>.</a:t>
            </a:r>
            <a:endParaRPr lang="ru-RU" dirty="0"/>
          </a:p>
          <a:p>
            <a:pPr lvl="0">
              <a:lnSpc>
                <a:spcPct val="115000"/>
              </a:lnSpc>
              <a:spcBef>
                <a:spcPts val="1400"/>
              </a:spcBef>
            </a:pPr>
            <a:r>
              <a:rPr lang="en-US" dirty="0">
                <a:hlinkClick r:id="rId5"/>
              </a:rPr>
              <a:t>Reverse</a:t>
            </a:r>
            <a:r>
              <a:rPr lang="ru-RU" dirty="0"/>
              <a:t> - изменение порядка элементов в коллекции на обратный</a:t>
            </a:r>
            <a:r>
              <a:rPr lang="ru-RU" dirty="0" smtClean="0"/>
              <a:t>. </a:t>
            </a:r>
            <a:r>
              <a:rPr lang="ru-RU" dirty="0"/>
              <a:t>В декларативном синтаксисе </a:t>
            </a:r>
            <a:r>
              <a:rPr lang="ru-RU" dirty="0" smtClean="0"/>
              <a:t>аналогов нет.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433071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72"/>
          <p:cNvSpPr txBox="1">
            <a:spLocks noGrp="1"/>
          </p:cNvSpPr>
          <p:nvPr>
            <p:ph type="title"/>
          </p:nvPr>
        </p:nvSpPr>
        <p:spPr>
          <a:xfrm>
            <a:off x="956225" y="396400"/>
            <a:ext cx="6931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ru-RU" dirty="0" smtClean="0"/>
              <a:t>Квантификаторы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6807812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74"/>
          <p:cNvSpPr txBox="1">
            <a:spLocks noGrp="1"/>
          </p:cNvSpPr>
          <p:nvPr>
            <p:ph type="title"/>
          </p:nvPr>
        </p:nvSpPr>
        <p:spPr>
          <a:xfrm>
            <a:off x="500550" y="330725"/>
            <a:ext cx="8190300" cy="67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ru-RU" dirty="0"/>
              <a:t>Операции квантификатора</a:t>
            </a:r>
          </a:p>
        </p:txBody>
      </p:sp>
      <p:sp>
        <p:nvSpPr>
          <p:cNvPr id="438" name="Google Shape;438;p74"/>
          <p:cNvSpPr txBox="1"/>
          <p:nvPr/>
        </p:nvSpPr>
        <p:spPr>
          <a:xfrm>
            <a:off x="598600" y="1009925"/>
            <a:ext cx="8092200" cy="2123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>
              <a:lnSpc>
                <a:spcPct val="115000"/>
              </a:lnSpc>
              <a:spcBef>
                <a:spcPts val="1400"/>
              </a:spcBef>
            </a:pPr>
            <a:r>
              <a:rPr lang="ru-RU" dirty="0" smtClean="0"/>
              <a:t>Квантификатор</a:t>
            </a:r>
            <a:r>
              <a:rPr lang="en-US" dirty="0" smtClean="0"/>
              <a:t> </a:t>
            </a:r>
            <a:r>
              <a:rPr lang="ru-RU" dirty="0" smtClean="0"/>
              <a:t>– это операция, которая </a:t>
            </a:r>
            <a:r>
              <a:rPr lang="ru-RU" dirty="0"/>
              <a:t>возвращают значение </a:t>
            </a:r>
            <a:r>
              <a:rPr lang="en-US" dirty="0" smtClean="0">
                <a:solidFill>
                  <a:schemeClr val="accent1">
                    <a:lumMod val="75000"/>
                  </a:schemeClr>
                </a:solidFill>
              </a:rPr>
              <a:t>bool</a:t>
            </a:r>
            <a:r>
              <a:rPr lang="ru-RU" dirty="0" smtClean="0"/>
              <a:t>, </a:t>
            </a:r>
            <a:r>
              <a:rPr lang="ru-RU" dirty="0"/>
              <a:t>которое указывает, удовлетворяют ли условию некоторые или все элементы в последовательности</a:t>
            </a:r>
            <a:r>
              <a:rPr lang="ru-RU" sz="1300" dirty="0" smtClean="0">
                <a:latin typeface="Roboto"/>
                <a:ea typeface="Roboto"/>
                <a:cs typeface="Roboto"/>
                <a:sym typeface="Roboto"/>
              </a:rPr>
              <a:t>.</a:t>
            </a:r>
          </a:p>
          <a:p>
            <a:pPr lvl="0">
              <a:lnSpc>
                <a:spcPct val="115000"/>
              </a:lnSpc>
              <a:spcBef>
                <a:spcPts val="1400"/>
              </a:spcBef>
            </a:pPr>
            <a:r>
              <a:rPr lang="en-US" dirty="0" smtClean="0">
                <a:hlinkClick r:id="rId3"/>
              </a:rPr>
              <a:t>All</a:t>
            </a:r>
            <a:r>
              <a:rPr lang="en-US" dirty="0" smtClean="0"/>
              <a:t> - </a:t>
            </a:r>
            <a:r>
              <a:rPr lang="ru-RU" dirty="0" smtClean="0"/>
              <a:t>определяет</a:t>
            </a:r>
            <a:r>
              <a:rPr lang="ru-RU" dirty="0"/>
              <a:t>, все ли элементы последовательности удовлетворяют </a:t>
            </a:r>
            <a:r>
              <a:rPr lang="ru-RU" dirty="0" smtClean="0"/>
              <a:t>условию.</a:t>
            </a:r>
            <a:endParaRPr lang="en-US" sz="1300" dirty="0" smtClean="0">
              <a:latin typeface="Roboto"/>
              <a:ea typeface="Roboto"/>
              <a:cs typeface="Roboto"/>
              <a:sym typeface="Roboto"/>
            </a:endParaRPr>
          </a:p>
          <a:p>
            <a:pPr lvl="0">
              <a:lnSpc>
                <a:spcPct val="115000"/>
              </a:lnSpc>
              <a:spcBef>
                <a:spcPts val="1400"/>
              </a:spcBef>
            </a:pPr>
            <a:r>
              <a:rPr lang="en-US" dirty="0" smtClean="0">
                <a:hlinkClick r:id="rId4"/>
              </a:rPr>
              <a:t>Any</a:t>
            </a:r>
            <a:r>
              <a:rPr lang="ru-RU" dirty="0" smtClean="0"/>
              <a:t> - определяет</a:t>
            </a:r>
            <a:r>
              <a:rPr lang="ru-RU" dirty="0"/>
              <a:t>, удовлетворяют ли условию какие-либо элементы </a:t>
            </a:r>
            <a:r>
              <a:rPr lang="ru-RU" dirty="0" smtClean="0"/>
              <a:t>последовательности.</a:t>
            </a:r>
            <a:endParaRPr lang="en-US" sz="1300" dirty="0" smtClean="0">
              <a:latin typeface="Roboto"/>
              <a:ea typeface="Roboto"/>
              <a:cs typeface="Roboto"/>
              <a:sym typeface="Roboto"/>
            </a:endParaRPr>
          </a:p>
          <a:p>
            <a:pPr lvl="0">
              <a:lnSpc>
                <a:spcPct val="115000"/>
              </a:lnSpc>
              <a:spcBef>
                <a:spcPts val="1400"/>
              </a:spcBef>
            </a:pPr>
            <a:r>
              <a:rPr lang="en-US" dirty="0" smtClean="0">
                <a:hlinkClick r:id="rId5"/>
              </a:rPr>
              <a:t>Contains</a:t>
            </a:r>
            <a:r>
              <a:rPr lang="ru-RU" dirty="0" smtClean="0"/>
              <a:t> - определяет</a:t>
            </a:r>
            <a:r>
              <a:rPr lang="ru-RU" dirty="0"/>
              <a:t>, содержит ли последовательность указанный элемент.</a:t>
            </a:r>
            <a:endParaRPr lang="en-US" sz="1300" dirty="0" smtClean="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4098" name="Picture 2" descr="LINQ Quantifier Operations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44495" y="3133809"/>
            <a:ext cx="2952750" cy="1428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926543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72"/>
          <p:cNvSpPr txBox="1">
            <a:spLocks noGrp="1"/>
          </p:cNvSpPr>
          <p:nvPr>
            <p:ph type="title"/>
          </p:nvPr>
        </p:nvSpPr>
        <p:spPr>
          <a:xfrm>
            <a:off x="956225" y="396400"/>
            <a:ext cx="6931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ru-RU" dirty="0" smtClean="0"/>
              <a:t>Секционирование данных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0686375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74"/>
          <p:cNvSpPr txBox="1">
            <a:spLocks noGrp="1"/>
          </p:cNvSpPr>
          <p:nvPr>
            <p:ph type="title"/>
          </p:nvPr>
        </p:nvSpPr>
        <p:spPr>
          <a:xfrm>
            <a:off x="500550" y="330725"/>
            <a:ext cx="8190300" cy="67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ru-RU" dirty="0"/>
              <a:t>Секционирование данных</a:t>
            </a:r>
          </a:p>
        </p:txBody>
      </p:sp>
      <p:sp>
        <p:nvSpPr>
          <p:cNvPr id="438" name="Google Shape;438;p74"/>
          <p:cNvSpPr txBox="1"/>
          <p:nvPr/>
        </p:nvSpPr>
        <p:spPr>
          <a:xfrm>
            <a:off x="598600" y="1009925"/>
            <a:ext cx="8092200" cy="8596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>
              <a:lnSpc>
                <a:spcPct val="115000"/>
              </a:lnSpc>
              <a:spcBef>
                <a:spcPts val="1400"/>
              </a:spcBef>
            </a:pPr>
            <a:r>
              <a:rPr lang="ru-RU" dirty="0" smtClean="0"/>
              <a:t>Секционирование </a:t>
            </a:r>
            <a:r>
              <a:rPr lang="en-US" dirty="0" smtClean="0"/>
              <a:t>– </a:t>
            </a:r>
            <a:r>
              <a:rPr lang="ru-RU" dirty="0" smtClean="0"/>
              <a:t>это операция </a:t>
            </a:r>
            <a:r>
              <a:rPr lang="ru-RU" dirty="0"/>
              <a:t>разделения входной последовательности на два раздела без изменения порядка элементов, а затем возвращения одного из разделов</a:t>
            </a:r>
            <a:r>
              <a:rPr lang="ru-RU" dirty="0" smtClean="0"/>
              <a:t>.</a:t>
            </a:r>
            <a:endParaRPr lang="en-US" sz="1300" dirty="0" smtClean="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6599" y="2366341"/>
            <a:ext cx="2771775" cy="182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63643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74"/>
          <p:cNvSpPr txBox="1">
            <a:spLocks noGrp="1"/>
          </p:cNvSpPr>
          <p:nvPr>
            <p:ph type="title"/>
          </p:nvPr>
        </p:nvSpPr>
        <p:spPr>
          <a:xfrm>
            <a:off x="500550" y="330725"/>
            <a:ext cx="8190300" cy="67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ru-RU" dirty="0"/>
              <a:t>Секционирование данных</a:t>
            </a:r>
          </a:p>
        </p:txBody>
      </p:sp>
      <p:sp>
        <p:nvSpPr>
          <p:cNvPr id="438" name="Google Shape;438;p74"/>
          <p:cNvSpPr txBox="1"/>
          <p:nvPr/>
        </p:nvSpPr>
        <p:spPr>
          <a:xfrm>
            <a:off x="598600" y="1009925"/>
            <a:ext cx="8092200" cy="3064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>
              <a:lnSpc>
                <a:spcPct val="115000"/>
              </a:lnSpc>
              <a:spcBef>
                <a:spcPts val="1400"/>
              </a:spcBef>
            </a:pPr>
            <a:r>
              <a:rPr lang="en-US" dirty="0" smtClean="0">
                <a:hlinkClick r:id="rId3"/>
              </a:rPr>
              <a:t>Skip</a:t>
            </a:r>
            <a:r>
              <a:rPr lang="en-US" dirty="0" smtClean="0"/>
              <a:t> - </a:t>
            </a:r>
            <a:r>
              <a:rPr lang="ru-RU" dirty="0"/>
              <a:t>п</a:t>
            </a:r>
            <a:r>
              <a:rPr lang="ru-RU" dirty="0" smtClean="0"/>
              <a:t>ропускает </a:t>
            </a:r>
            <a:r>
              <a:rPr lang="ru-RU" dirty="0"/>
              <a:t>элементы до указанной позиции в последовательности.</a:t>
            </a:r>
            <a:endParaRPr lang="ru-RU" dirty="0" smtClean="0"/>
          </a:p>
          <a:p>
            <a:pPr lvl="0">
              <a:lnSpc>
                <a:spcPct val="115000"/>
              </a:lnSpc>
              <a:spcBef>
                <a:spcPts val="1400"/>
              </a:spcBef>
            </a:pPr>
            <a:r>
              <a:rPr lang="en-US" dirty="0" err="1" smtClean="0">
                <a:hlinkClick r:id="rId4"/>
              </a:rPr>
              <a:t>SkipWhile</a:t>
            </a:r>
            <a:r>
              <a:rPr lang="ru-RU" dirty="0" smtClean="0"/>
              <a:t> - п</a:t>
            </a:r>
            <a:r>
              <a:rPr lang="ru-RU" dirty="0"/>
              <a:t>ропускает элементы на основе функции предиката, пока элемент не удовлетворяет условию.</a:t>
            </a:r>
            <a:endParaRPr lang="ru-RU" dirty="0" smtClean="0"/>
          </a:p>
          <a:p>
            <a:pPr lvl="0">
              <a:lnSpc>
                <a:spcPct val="115000"/>
              </a:lnSpc>
              <a:spcBef>
                <a:spcPts val="1400"/>
              </a:spcBef>
            </a:pPr>
            <a:r>
              <a:rPr lang="en-US" dirty="0" smtClean="0">
                <a:hlinkClick r:id="rId5"/>
              </a:rPr>
              <a:t>Take</a:t>
            </a:r>
            <a:r>
              <a:rPr lang="ru-RU" dirty="0" smtClean="0"/>
              <a:t> - в</a:t>
            </a:r>
            <a:r>
              <a:rPr lang="ru-RU" dirty="0"/>
              <a:t>озвращает элементы на указанную позицию в последовательности.</a:t>
            </a:r>
            <a:endParaRPr lang="ru-RU" dirty="0" smtClean="0"/>
          </a:p>
          <a:p>
            <a:pPr lvl="0">
              <a:lnSpc>
                <a:spcPct val="115000"/>
              </a:lnSpc>
              <a:spcBef>
                <a:spcPts val="1400"/>
              </a:spcBef>
            </a:pPr>
            <a:r>
              <a:rPr lang="en-US" dirty="0" err="1" smtClean="0">
                <a:hlinkClick r:id="rId6"/>
              </a:rPr>
              <a:t>TakeWhile</a:t>
            </a:r>
            <a:r>
              <a:rPr lang="ru-RU" dirty="0" smtClean="0"/>
              <a:t> - п</a:t>
            </a:r>
            <a:r>
              <a:rPr lang="ru-RU" dirty="0"/>
              <a:t>ринимает элементы на основе функции предиката, пока элемент не удовлетворяет условию.</a:t>
            </a:r>
            <a:endParaRPr lang="ru-RU" dirty="0" smtClean="0"/>
          </a:p>
          <a:p>
            <a:pPr lvl="0">
              <a:lnSpc>
                <a:spcPct val="115000"/>
              </a:lnSpc>
              <a:spcBef>
                <a:spcPts val="1400"/>
              </a:spcBef>
            </a:pPr>
            <a:r>
              <a:rPr lang="en-US" dirty="0" smtClean="0">
                <a:hlinkClick r:id="rId7"/>
              </a:rPr>
              <a:t>Chunk</a:t>
            </a:r>
            <a:r>
              <a:rPr lang="ru-RU" dirty="0" smtClean="0"/>
              <a:t> - р</a:t>
            </a:r>
            <a:r>
              <a:rPr lang="ru-RU" dirty="0"/>
              <a:t>азделяет элементы последовательности на фрагменты указанного максимального размера.</a:t>
            </a:r>
            <a:endParaRPr lang="en-US" sz="1300" dirty="0" smtClean="0">
              <a:latin typeface="Roboto"/>
              <a:ea typeface="Roboto"/>
              <a:cs typeface="Roboto"/>
              <a:sym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34132173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72"/>
          <p:cNvSpPr txBox="1">
            <a:spLocks noGrp="1"/>
          </p:cNvSpPr>
          <p:nvPr>
            <p:ph type="title"/>
          </p:nvPr>
        </p:nvSpPr>
        <p:spPr>
          <a:xfrm>
            <a:off x="956225" y="396400"/>
            <a:ext cx="6931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ru-RU" dirty="0" smtClean="0"/>
              <a:t>Преобразование типов данных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7598010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74"/>
          <p:cNvSpPr txBox="1">
            <a:spLocks noGrp="1"/>
          </p:cNvSpPr>
          <p:nvPr>
            <p:ph type="title"/>
          </p:nvPr>
        </p:nvSpPr>
        <p:spPr>
          <a:xfrm>
            <a:off x="500550" y="330725"/>
            <a:ext cx="8190300" cy="67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ru-RU" dirty="0"/>
              <a:t>Преобразование типов данных</a:t>
            </a:r>
          </a:p>
        </p:txBody>
      </p:sp>
      <p:sp>
        <p:nvSpPr>
          <p:cNvPr id="438" name="Google Shape;438;p74"/>
          <p:cNvSpPr txBox="1"/>
          <p:nvPr/>
        </p:nvSpPr>
        <p:spPr>
          <a:xfrm>
            <a:off x="598600" y="1009925"/>
            <a:ext cx="8092200" cy="16788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>
              <a:lnSpc>
                <a:spcPct val="115000"/>
              </a:lnSpc>
              <a:spcBef>
                <a:spcPts val="1400"/>
              </a:spcBef>
            </a:pPr>
            <a:r>
              <a:rPr lang="ru-RU" dirty="0" smtClean="0"/>
              <a:t>Операция преобразования меняет тип входных объектов.</a:t>
            </a:r>
          </a:p>
          <a:p>
            <a:pPr lvl="0">
              <a:lnSpc>
                <a:spcPct val="115000"/>
              </a:lnSpc>
              <a:spcBef>
                <a:spcPts val="1400"/>
              </a:spcBef>
            </a:pPr>
            <a:r>
              <a:rPr lang="ru-RU" dirty="0" smtClean="0"/>
              <a:t>Таблица методов преобразования находится </a:t>
            </a:r>
            <a:r>
              <a:rPr lang="ru-RU" dirty="0" smtClean="0">
                <a:hlinkClick r:id="rId3"/>
              </a:rPr>
              <a:t>здесь</a:t>
            </a:r>
            <a:r>
              <a:rPr lang="ru-RU" dirty="0" smtClean="0"/>
              <a:t>.</a:t>
            </a:r>
            <a:endParaRPr lang="en-US" dirty="0" smtClean="0"/>
          </a:p>
          <a:p>
            <a:pPr lvl="0">
              <a:lnSpc>
                <a:spcPct val="115000"/>
              </a:lnSpc>
              <a:spcBef>
                <a:spcPts val="1400"/>
              </a:spcBef>
            </a:pPr>
            <a:r>
              <a:rPr lang="en-US" sz="1300" dirty="0" smtClean="0">
                <a:latin typeface="Roboto"/>
                <a:ea typeface="Roboto"/>
                <a:cs typeface="Roboto"/>
                <a:sym typeface="Roboto"/>
                <a:hlinkClick r:id="rId3"/>
              </a:rPr>
              <a:t>https</a:t>
            </a:r>
            <a:r>
              <a:rPr lang="en-US" sz="1300" dirty="0">
                <a:latin typeface="Roboto"/>
                <a:ea typeface="Roboto"/>
                <a:cs typeface="Roboto"/>
                <a:sym typeface="Roboto"/>
                <a:hlinkClick r:id="rId3"/>
              </a:rPr>
              <a:t>://</a:t>
            </a:r>
            <a:r>
              <a:rPr lang="en-US" sz="1300" dirty="0" smtClean="0">
                <a:latin typeface="Roboto"/>
                <a:ea typeface="Roboto"/>
                <a:cs typeface="Roboto"/>
                <a:sym typeface="Roboto"/>
                <a:hlinkClick r:id="rId3"/>
              </a:rPr>
              <a:t>learn.microsoft.com/en-us/dotnet/csharp/linq/standard-query-operators/converting-data-types#methods</a:t>
            </a:r>
            <a:endParaRPr lang="en-US" sz="1300" dirty="0" smtClean="0">
              <a:latin typeface="Roboto"/>
              <a:ea typeface="Roboto"/>
              <a:cs typeface="Roboto"/>
              <a:sym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28687779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72"/>
          <p:cNvSpPr txBox="1">
            <a:spLocks noGrp="1"/>
          </p:cNvSpPr>
          <p:nvPr>
            <p:ph type="title"/>
          </p:nvPr>
        </p:nvSpPr>
        <p:spPr>
          <a:xfrm>
            <a:off x="956225" y="396400"/>
            <a:ext cx="6931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ru-RU" dirty="0" smtClean="0"/>
              <a:t>Операции соединения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2614406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74"/>
          <p:cNvSpPr txBox="1">
            <a:spLocks noGrp="1"/>
          </p:cNvSpPr>
          <p:nvPr>
            <p:ph type="title"/>
          </p:nvPr>
        </p:nvSpPr>
        <p:spPr>
          <a:xfrm>
            <a:off x="500550" y="330725"/>
            <a:ext cx="8190300" cy="67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ru-RU" dirty="0" smtClean="0"/>
              <a:t>Операции соединения(</a:t>
            </a:r>
            <a:r>
              <a:rPr lang="en-US" dirty="0" smtClean="0"/>
              <a:t>Join</a:t>
            </a:r>
            <a:r>
              <a:rPr lang="ru-RU" dirty="0" smtClean="0"/>
              <a:t>)</a:t>
            </a:r>
            <a:endParaRPr lang="ru-RU" dirty="0"/>
          </a:p>
        </p:txBody>
      </p:sp>
      <p:sp>
        <p:nvSpPr>
          <p:cNvPr id="438" name="Google Shape;438;p74"/>
          <p:cNvSpPr txBox="1"/>
          <p:nvPr/>
        </p:nvSpPr>
        <p:spPr>
          <a:xfrm>
            <a:off x="598600" y="1009925"/>
            <a:ext cx="8092200" cy="39459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>
              <a:lnSpc>
                <a:spcPct val="115000"/>
              </a:lnSpc>
              <a:spcBef>
                <a:spcPts val="1400"/>
              </a:spcBef>
            </a:pPr>
            <a:r>
              <a:rPr lang="ru-RU" i="1" dirty="0"/>
              <a:t>Соединение</a:t>
            </a:r>
            <a:r>
              <a:rPr lang="ru-RU" dirty="0"/>
              <a:t> двух источников данных — это связь объектов в одном источнике данных с объектами, которые имеют общий атрибут в другом источнике данных</a:t>
            </a:r>
            <a:r>
              <a:rPr lang="ru-RU" dirty="0" smtClean="0"/>
              <a:t>.</a:t>
            </a:r>
          </a:p>
          <a:p>
            <a:pPr lvl="0">
              <a:lnSpc>
                <a:spcPct val="115000"/>
              </a:lnSpc>
              <a:spcBef>
                <a:spcPts val="1400"/>
              </a:spcBef>
            </a:pPr>
            <a:r>
              <a:rPr lang="en-US" dirty="0" smtClean="0">
                <a:hlinkClick r:id="rId3"/>
              </a:rPr>
              <a:t>Join</a:t>
            </a:r>
            <a:r>
              <a:rPr lang="en-US" dirty="0" smtClean="0"/>
              <a:t> – </a:t>
            </a:r>
            <a:r>
              <a:rPr lang="ru-RU" dirty="0" smtClean="0"/>
              <a:t>соединяет </a:t>
            </a:r>
            <a:r>
              <a:rPr lang="ru-RU" dirty="0"/>
              <a:t>две последовательности на основании функций селектора ключа и </a:t>
            </a:r>
            <a:r>
              <a:rPr lang="ru-RU" dirty="0" smtClean="0"/>
              <a:t>извлекает </a:t>
            </a:r>
            <a:r>
              <a:rPr lang="ru-RU" dirty="0"/>
              <a:t>пары </a:t>
            </a:r>
            <a:r>
              <a:rPr lang="ru-RU" dirty="0" smtClean="0"/>
              <a:t>значений. </a:t>
            </a:r>
            <a:r>
              <a:rPr lang="ru-RU" dirty="0"/>
              <a:t>В декларативном синтаксисе дополнительные </a:t>
            </a:r>
            <a:r>
              <a:rPr lang="en-US" dirty="0" smtClean="0">
                <a:solidFill>
                  <a:schemeClr val="accent1">
                    <a:lumMod val="75000"/>
                  </a:schemeClr>
                </a:solidFill>
              </a:rPr>
              <a:t>join </a:t>
            </a:r>
            <a:r>
              <a:rPr lang="en-US" dirty="0"/>
              <a:t>…</a:t>
            </a:r>
            <a:r>
              <a:rPr lang="en-US" dirty="0" smtClean="0">
                <a:solidFill>
                  <a:schemeClr val="accent1">
                    <a:lumMod val="75000"/>
                  </a:schemeClr>
                </a:solidFill>
              </a:rPr>
              <a:t> in </a:t>
            </a:r>
            <a:r>
              <a:rPr lang="en-US" dirty="0"/>
              <a:t>…</a:t>
            </a:r>
            <a:r>
              <a:rPr lang="en-US" dirty="0" smtClean="0">
                <a:solidFill>
                  <a:schemeClr val="accent1">
                    <a:lumMod val="75000"/>
                  </a:schemeClr>
                </a:solidFill>
              </a:rPr>
              <a:t> on </a:t>
            </a:r>
            <a:r>
              <a:rPr lang="en-US" dirty="0"/>
              <a:t>… </a:t>
            </a:r>
            <a:r>
              <a:rPr lang="en-US" dirty="0" smtClean="0">
                <a:solidFill>
                  <a:schemeClr val="accent1">
                    <a:lumMod val="75000"/>
                  </a:schemeClr>
                </a:solidFill>
              </a:rPr>
              <a:t>equals</a:t>
            </a:r>
            <a:r>
              <a:rPr lang="en-US" dirty="0" smtClean="0"/>
              <a:t>.</a:t>
            </a:r>
            <a:endParaRPr lang="ru-RU" dirty="0" smtClean="0"/>
          </a:p>
          <a:p>
            <a:pPr lvl="0">
              <a:lnSpc>
                <a:spcPct val="115000"/>
              </a:lnSpc>
              <a:spcBef>
                <a:spcPts val="1400"/>
              </a:spcBef>
            </a:pPr>
            <a:r>
              <a:rPr lang="en-US" dirty="0" err="1" smtClean="0">
                <a:hlinkClick r:id="rId4"/>
              </a:rPr>
              <a:t>GroupJoin</a:t>
            </a:r>
            <a:r>
              <a:rPr lang="ru-RU" dirty="0" smtClean="0"/>
              <a:t> – соединяет две </a:t>
            </a:r>
            <a:r>
              <a:rPr lang="ru-RU" dirty="0"/>
              <a:t>последовательности на основании функций селектора ключа и группирует полученные при сопоставлении данные для каждого элемента</a:t>
            </a:r>
            <a:r>
              <a:rPr lang="ru-RU" dirty="0" smtClean="0"/>
              <a:t>.</a:t>
            </a:r>
            <a:r>
              <a:rPr lang="en-US" dirty="0" smtClean="0"/>
              <a:t> </a:t>
            </a:r>
            <a:r>
              <a:rPr lang="ru-RU" dirty="0"/>
              <a:t>В декларативном синтаксисе дополнительные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join </a:t>
            </a:r>
            <a:r>
              <a:rPr lang="en-US" dirty="0"/>
              <a:t>…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 in </a:t>
            </a:r>
            <a:r>
              <a:rPr lang="en-US" dirty="0"/>
              <a:t>…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 on </a:t>
            </a:r>
            <a:r>
              <a:rPr lang="en-US" dirty="0"/>
              <a:t>… </a:t>
            </a:r>
            <a:r>
              <a:rPr lang="en-US" dirty="0" smtClean="0">
                <a:solidFill>
                  <a:schemeClr val="accent1">
                    <a:lumMod val="75000"/>
                  </a:schemeClr>
                </a:solidFill>
              </a:rPr>
              <a:t>equals </a:t>
            </a:r>
            <a:r>
              <a:rPr lang="en-US" dirty="0" smtClean="0"/>
              <a:t>… </a:t>
            </a:r>
            <a:r>
              <a:rPr lang="en-US" dirty="0" smtClean="0">
                <a:solidFill>
                  <a:schemeClr val="accent1">
                    <a:lumMod val="75000"/>
                  </a:schemeClr>
                </a:solidFill>
              </a:rPr>
              <a:t>into </a:t>
            </a:r>
            <a:r>
              <a:rPr lang="en-US" dirty="0" smtClean="0"/>
              <a:t>… .</a:t>
            </a:r>
          </a:p>
          <a:p>
            <a:pPr lvl="0">
              <a:lnSpc>
                <a:spcPct val="115000"/>
              </a:lnSpc>
              <a:spcBef>
                <a:spcPts val="1400"/>
              </a:spcBef>
            </a:pPr>
            <a:r>
              <a:rPr lang="ru-RU" sz="1300" dirty="0" smtClean="0">
                <a:latin typeface="Roboto"/>
                <a:ea typeface="Roboto"/>
                <a:cs typeface="Roboto"/>
                <a:sym typeface="Roboto"/>
              </a:rPr>
              <a:t>Пример декларативного синтаксиса:</a:t>
            </a:r>
          </a:p>
          <a:p>
            <a:pPr lvl="3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ru-RU" dirty="0" smtClean="0">
                <a:solidFill>
                  <a:schemeClr val="accent1">
                    <a:lumMod val="75000"/>
                  </a:schemeClr>
                </a:solidFill>
                <a:latin typeface="var(--code-font-family)"/>
              </a:rPr>
              <a:t>	</a:t>
            </a:r>
            <a:r>
              <a:rPr lang="ru-RU" altLang="ru-RU" dirty="0" err="1" smtClean="0">
                <a:solidFill>
                  <a:schemeClr val="accent1">
                    <a:lumMod val="75000"/>
                  </a:schemeClr>
                </a:solidFill>
                <a:latin typeface="var(--code-font-family)"/>
              </a:rPr>
              <a:t>from</a:t>
            </a:r>
            <a:r>
              <a:rPr lang="ru-RU" altLang="ru-RU" dirty="0" smtClean="0">
                <a:latin typeface="var(--code-font-family)"/>
              </a:rPr>
              <a:t> </a:t>
            </a:r>
            <a:r>
              <a:rPr lang="en-US" altLang="ru-RU" dirty="0" smtClean="0">
                <a:latin typeface="var(--code-font-family)"/>
              </a:rPr>
              <a:t>x</a:t>
            </a:r>
            <a:r>
              <a:rPr lang="ru-RU" altLang="ru-RU" dirty="0" smtClean="0">
                <a:latin typeface="var(--code-font-family)"/>
              </a:rPr>
              <a:t> </a:t>
            </a:r>
            <a:r>
              <a:rPr lang="ru-RU" altLang="ru-RU" dirty="0" err="1">
                <a:solidFill>
                  <a:schemeClr val="accent1">
                    <a:lumMod val="75000"/>
                  </a:schemeClr>
                </a:solidFill>
                <a:latin typeface="var(--code-font-family)"/>
              </a:rPr>
              <a:t>in</a:t>
            </a:r>
            <a:r>
              <a:rPr lang="ru-RU" altLang="ru-RU" dirty="0">
                <a:latin typeface="SFMono-Regular"/>
              </a:rPr>
              <a:t> </a:t>
            </a:r>
            <a:r>
              <a:rPr lang="en-US" altLang="ru-RU" dirty="0" smtClean="0">
                <a:latin typeface="SFMono-Regular"/>
              </a:rPr>
              <a:t>set1</a:t>
            </a:r>
            <a:endParaRPr lang="ru-RU" altLang="ru-RU" sz="800" dirty="0">
              <a:solidFill>
                <a:schemeClr val="tx1"/>
              </a:solidFill>
            </a:endParaRPr>
          </a:p>
          <a:p>
            <a:pPr lvl="3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ru-RU" dirty="0" smtClean="0">
                <a:solidFill>
                  <a:schemeClr val="accent1">
                    <a:lumMod val="75000"/>
                  </a:schemeClr>
                </a:solidFill>
                <a:latin typeface="var(--code-font-family)"/>
              </a:rPr>
              <a:t>	</a:t>
            </a:r>
            <a:r>
              <a:rPr lang="ru-RU" altLang="ru-RU" dirty="0" err="1" smtClean="0">
                <a:solidFill>
                  <a:schemeClr val="accent1">
                    <a:lumMod val="75000"/>
                  </a:schemeClr>
                </a:solidFill>
                <a:latin typeface="var(--code-font-family)"/>
              </a:rPr>
              <a:t>join</a:t>
            </a:r>
            <a:r>
              <a:rPr lang="ru-RU" altLang="ru-RU" dirty="0" smtClean="0">
                <a:latin typeface="var(--code-font-family)"/>
              </a:rPr>
              <a:t> </a:t>
            </a:r>
            <a:r>
              <a:rPr lang="en-US" altLang="ru-RU" dirty="0">
                <a:latin typeface="var(--code-font-family)"/>
              </a:rPr>
              <a:t>y</a:t>
            </a:r>
            <a:r>
              <a:rPr lang="ru-RU" altLang="ru-RU" dirty="0" smtClean="0">
                <a:latin typeface="var(--code-font-family)"/>
              </a:rPr>
              <a:t> </a:t>
            </a:r>
            <a:r>
              <a:rPr lang="ru-RU" altLang="ru-RU" dirty="0" err="1">
                <a:solidFill>
                  <a:schemeClr val="accent1">
                    <a:lumMod val="75000"/>
                  </a:schemeClr>
                </a:solidFill>
                <a:latin typeface="var(--code-font-family)"/>
              </a:rPr>
              <a:t>in</a:t>
            </a:r>
            <a:r>
              <a:rPr lang="ru-RU" altLang="ru-RU" dirty="0">
                <a:latin typeface="SFMono-Regular"/>
              </a:rPr>
              <a:t> </a:t>
            </a:r>
            <a:r>
              <a:rPr lang="en-US" altLang="ru-RU" dirty="0" smtClean="0">
                <a:latin typeface="SFMono-Regular"/>
              </a:rPr>
              <a:t>set2</a:t>
            </a:r>
            <a:r>
              <a:rPr lang="ru-RU" altLang="ru-RU" dirty="0" smtClean="0">
                <a:latin typeface="var(--code-font-family)"/>
              </a:rPr>
              <a:t> </a:t>
            </a:r>
            <a:r>
              <a:rPr lang="ru-RU" altLang="ru-RU" dirty="0" err="1">
                <a:solidFill>
                  <a:schemeClr val="accent1">
                    <a:lumMod val="75000"/>
                  </a:schemeClr>
                </a:solidFill>
                <a:latin typeface="var(--code-font-family)"/>
              </a:rPr>
              <a:t>on</a:t>
            </a:r>
            <a:r>
              <a:rPr lang="ru-RU" altLang="ru-RU" dirty="0">
                <a:latin typeface="var(--code-font-family)"/>
              </a:rPr>
              <a:t> </a:t>
            </a:r>
            <a:r>
              <a:rPr lang="en-US" altLang="ru-RU" dirty="0">
                <a:latin typeface="var(--code-font-family)"/>
              </a:rPr>
              <a:t>y</a:t>
            </a:r>
            <a:r>
              <a:rPr lang="ru-RU" altLang="ru-RU" dirty="0" smtClean="0">
                <a:latin typeface="var(--code-font-family)"/>
              </a:rPr>
              <a:t>.</a:t>
            </a:r>
            <a:r>
              <a:rPr lang="en-US" altLang="ru-RU" dirty="0" smtClean="0">
                <a:latin typeface="var(--code-font-family)"/>
              </a:rPr>
              <a:t>Prop</a:t>
            </a:r>
            <a:r>
              <a:rPr lang="ru-RU" altLang="ru-RU" dirty="0" smtClean="0">
                <a:latin typeface="var(--code-font-family)"/>
              </a:rPr>
              <a:t>2 </a:t>
            </a:r>
            <a:r>
              <a:rPr lang="ru-RU" altLang="ru-RU" dirty="0" err="1">
                <a:solidFill>
                  <a:schemeClr val="accent1">
                    <a:lumMod val="75000"/>
                  </a:schemeClr>
                </a:solidFill>
                <a:latin typeface="var(--code-font-family)"/>
              </a:rPr>
              <a:t>equals</a:t>
            </a:r>
            <a:r>
              <a:rPr lang="ru-RU" altLang="ru-RU" dirty="0">
                <a:latin typeface="var(--code-font-family)"/>
              </a:rPr>
              <a:t> </a:t>
            </a:r>
            <a:r>
              <a:rPr lang="en-US" altLang="ru-RU" dirty="0" smtClean="0">
                <a:latin typeface="var(--code-font-family)"/>
              </a:rPr>
              <a:t>x</a:t>
            </a:r>
            <a:r>
              <a:rPr lang="ru-RU" altLang="ru-RU" dirty="0" smtClean="0">
                <a:latin typeface="var(--code-font-family)"/>
              </a:rPr>
              <a:t>.</a:t>
            </a:r>
            <a:r>
              <a:rPr lang="en-US" altLang="ru-RU" dirty="0" smtClean="0">
                <a:latin typeface="var(--code-font-family)"/>
              </a:rPr>
              <a:t>Prop</a:t>
            </a:r>
            <a:r>
              <a:rPr lang="ru-RU" altLang="ru-RU" dirty="0" smtClean="0">
                <a:latin typeface="var(--code-font-family)"/>
              </a:rPr>
              <a:t>1</a:t>
            </a:r>
            <a:endParaRPr lang="en-US" altLang="ru-RU" dirty="0" smtClean="0">
              <a:latin typeface="var(--code-font-family)"/>
            </a:endParaRPr>
          </a:p>
          <a:p>
            <a:pPr lvl="3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ru-RU" sz="1300" dirty="0" smtClean="0">
                <a:latin typeface="var(--code-font-family)"/>
                <a:ea typeface="Roboto"/>
                <a:cs typeface="Roboto"/>
                <a:sym typeface="Roboto"/>
              </a:rPr>
              <a:t>где, свойства </a:t>
            </a:r>
            <a:r>
              <a:rPr lang="en-US" sz="1300" dirty="0" smtClean="0">
                <a:latin typeface="var(--code-font-family)"/>
                <a:ea typeface="Roboto"/>
                <a:cs typeface="Roboto"/>
                <a:sym typeface="Roboto"/>
              </a:rPr>
              <a:t>y.Prop2 </a:t>
            </a:r>
            <a:r>
              <a:rPr lang="ru-RU" sz="1300" dirty="0" smtClean="0">
                <a:latin typeface="var(--code-font-family)"/>
                <a:ea typeface="Roboto"/>
                <a:cs typeface="Roboto"/>
                <a:sym typeface="Roboto"/>
              </a:rPr>
              <a:t>и </a:t>
            </a:r>
            <a:r>
              <a:rPr lang="en-US" sz="1300" dirty="0" smtClean="0">
                <a:latin typeface="var(--code-font-family)"/>
                <a:ea typeface="Roboto"/>
                <a:cs typeface="Roboto"/>
                <a:sym typeface="Roboto"/>
              </a:rPr>
              <a:t>x.Prop1</a:t>
            </a:r>
            <a:r>
              <a:rPr lang="ru-RU" sz="1300" dirty="0">
                <a:latin typeface="var(--code-font-family)"/>
                <a:ea typeface="Roboto"/>
                <a:cs typeface="Roboto"/>
                <a:sym typeface="Roboto"/>
              </a:rPr>
              <a:t> </a:t>
            </a:r>
            <a:r>
              <a:rPr lang="ru-RU" sz="1300" dirty="0" smtClean="0">
                <a:latin typeface="var(--code-font-family)"/>
                <a:ea typeface="Roboto"/>
                <a:cs typeface="Roboto"/>
                <a:sym typeface="Roboto"/>
              </a:rPr>
              <a:t>являются одной и той же сущностью, скажем идентификатором группы студента.</a:t>
            </a:r>
          </a:p>
        </p:txBody>
      </p:sp>
    </p:spTree>
    <p:extLst>
      <p:ext uri="{BB962C8B-B14F-4D97-AF65-F5344CB8AC3E}">
        <p14:creationId xmlns:p14="http://schemas.microsoft.com/office/powerpoint/2010/main" val="39650228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74"/>
          <p:cNvSpPr txBox="1">
            <a:spLocks noGrp="1"/>
          </p:cNvSpPr>
          <p:nvPr>
            <p:ph type="title"/>
          </p:nvPr>
        </p:nvSpPr>
        <p:spPr>
          <a:xfrm>
            <a:off x="500550" y="330725"/>
            <a:ext cx="8190300" cy="67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ru-RU" dirty="0" smtClean="0"/>
              <a:t>Операции соединения(</a:t>
            </a:r>
            <a:r>
              <a:rPr lang="en-US" dirty="0" smtClean="0"/>
              <a:t>Join</a:t>
            </a:r>
            <a:r>
              <a:rPr lang="ru-RU" dirty="0" smtClean="0"/>
              <a:t>)</a:t>
            </a:r>
            <a:endParaRPr lang="ru-RU" dirty="0"/>
          </a:p>
        </p:txBody>
      </p:sp>
      <p:sp>
        <p:nvSpPr>
          <p:cNvPr id="438" name="Google Shape;438;p74"/>
          <p:cNvSpPr txBox="1"/>
          <p:nvPr/>
        </p:nvSpPr>
        <p:spPr>
          <a:xfrm>
            <a:off x="598600" y="1009925"/>
            <a:ext cx="8233974" cy="6119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>
              <a:lnSpc>
                <a:spcPct val="115000"/>
              </a:lnSpc>
              <a:spcBef>
                <a:spcPts val="1400"/>
              </a:spcBef>
            </a:pPr>
            <a:r>
              <a:rPr lang="ru-RU" dirty="0" smtClean="0"/>
              <a:t>Пример:</a:t>
            </a:r>
            <a:endParaRPr lang="ru-RU" sz="1300" dirty="0" smtClean="0">
              <a:latin typeface="var(--code-font-family)"/>
              <a:ea typeface="Roboto"/>
              <a:cs typeface="Roboto"/>
              <a:sym typeface="Roboto"/>
            </a:endParaRPr>
          </a:p>
        </p:txBody>
      </p:sp>
      <p:pic>
        <p:nvPicPr>
          <p:cNvPr id="1030" name="Picture 6" descr="SQL - Inner Join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5405" y="1888643"/>
            <a:ext cx="5460789" cy="27733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076925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72"/>
          <p:cNvSpPr txBox="1">
            <a:spLocks noGrp="1"/>
          </p:cNvSpPr>
          <p:nvPr>
            <p:ph type="title"/>
          </p:nvPr>
        </p:nvSpPr>
        <p:spPr>
          <a:xfrm>
            <a:off x="956225" y="396400"/>
            <a:ext cx="6931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ru-RU" dirty="0" smtClean="0"/>
              <a:t>Группировка данных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2300760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74"/>
          <p:cNvSpPr txBox="1">
            <a:spLocks noGrp="1"/>
          </p:cNvSpPr>
          <p:nvPr>
            <p:ph type="title"/>
          </p:nvPr>
        </p:nvSpPr>
        <p:spPr>
          <a:xfrm>
            <a:off x="500550" y="330725"/>
            <a:ext cx="8190300" cy="67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ru-RU" dirty="0"/>
              <a:t>Группирование данных</a:t>
            </a:r>
          </a:p>
        </p:txBody>
      </p:sp>
      <p:sp>
        <p:nvSpPr>
          <p:cNvPr id="438" name="Google Shape;438;p74"/>
          <p:cNvSpPr txBox="1"/>
          <p:nvPr/>
        </p:nvSpPr>
        <p:spPr>
          <a:xfrm>
            <a:off x="500550" y="1009925"/>
            <a:ext cx="8190250" cy="11074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>
              <a:lnSpc>
                <a:spcPct val="115000"/>
              </a:lnSpc>
              <a:spcBef>
                <a:spcPts val="1400"/>
              </a:spcBef>
            </a:pPr>
            <a:r>
              <a:rPr lang="ru-RU" dirty="0" smtClean="0"/>
              <a:t>Группировка – это операция </a:t>
            </a:r>
            <a:r>
              <a:rPr lang="ru-RU" dirty="0"/>
              <a:t>объединения данных в группы таким образом, чтобы у элементов в каждой группе был общий атрибут. На следующем рисунке показаны результаты операции группирования последовательности символов. Ключ для каждой группы — это символ.</a:t>
            </a:r>
            <a:endParaRPr lang="ru-RU" dirty="0" smtClean="0"/>
          </a:p>
        </p:txBody>
      </p:sp>
      <p:pic>
        <p:nvPicPr>
          <p:cNvPr id="2054" name="Picture 6" descr="Схема, показывающая операцию группировки LINQ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5767" y="2572726"/>
            <a:ext cx="2924175" cy="1828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753522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74"/>
          <p:cNvSpPr txBox="1">
            <a:spLocks noGrp="1"/>
          </p:cNvSpPr>
          <p:nvPr>
            <p:ph type="title"/>
          </p:nvPr>
        </p:nvSpPr>
        <p:spPr>
          <a:xfrm>
            <a:off x="500550" y="330725"/>
            <a:ext cx="8190300" cy="67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ru-RU" dirty="0"/>
              <a:t>Группирование данных</a:t>
            </a:r>
          </a:p>
        </p:txBody>
      </p:sp>
      <p:sp>
        <p:nvSpPr>
          <p:cNvPr id="438" name="Google Shape;438;p74"/>
          <p:cNvSpPr txBox="1"/>
          <p:nvPr/>
        </p:nvSpPr>
        <p:spPr>
          <a:xfrm>
            <a:off x="500550" y="1009925"/>
            <a:ext cx="8190250" cy="6119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>
              <a:lnSpc>
                <a:spcPct val="115000"/>
              </a:lnSpc>
              <a:spcBef>
                <a:spcPts val="1400"/>
              </a:spcBef>
            </a:pPr>
            <a:endParaRPr lang="ru-RU" dirty="0" smtClean="0"/>
          </a:p>
        </p:txBody>
      </p:sp>
      <p:sp>
        <p:nvSpPr>
          <p:cNvPr id="95240" name="AutoShape 8" descr="https://miro.medium.com/v2/resize:fit:845/1*ZeLUpu-k3yK7tZ-QzPp3eA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95245" name="Picture 1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034209" y="1185316"/>
            <a:ext cx="5208105" cy="34679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37753522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74"/>
          <p:cNvSpPr txBox="1">
            <a:spLocks noGrp="1"/>
          </p:cNvSpPr>
          <p:nvPr>
            <p:ph type="title"/>
          </p:nvPr>
        </p:nvSpPr>
        <p:spPr>
          <a:xfrm>
            <a:off x="500550" y="330725"/>
            <a:ext cx="8190300" cy="67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ru-RU" dirty="0"/>
              <a:t>Группирование данных</a:t>
            </a:r>
          </a:p>
        </p:txBody>
      </p:sp>
      <p:sp>
        <p:nvSpPr>
          <p:cNvPr id="438" name="Google Shape;438;p74"/>
          <p:cNvSpPr txBox="1"/>
          <p:nvPr/>
        </p:nvSpPr>
        <p:spPr>
          <a:xfrm>
            <a:off x="500550" y="1009925"/>
            <a:ext cx="8190250" cy="17825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>
              <a:lnSpc>
                <a:spcPct val="115000"/>
              </a:lnSpc>
              <a:spcBef>
                <a:spcPts val="1400"/>
              </a:spcBef>
            </a:pPr>
            <a:r>
              <a:rPr lang="en-US" dirty="0" err="1" smtClean="0">
                <a:hlinkClick r:id="rId3"/>
              </a:rPr>
              <a:t>GroupBy</a:t>
            </a:r>
            <a:r>
              <a:rPr lang="ru-RU" dirty="0" smtClean="0"/>
              <a:t> – группирует </a:t>
            </a:r>
            <a:r>
              <a:rPr lang="ru-RU" dirty="0"/>
              <a:t>элементы с общим атрибутом. Объект </a:t>
            </a:r>
            <a:r>
              <a:rPr lang="ru-RU" dirty="0" smtClean="0"/>
              <a:t>представляет каждую</a:t>
            </a:r>
            <a:r>
              <a:rPr lang="ru-RU" dirty="0"/>
              <a:t> </a:t>
            </a:r>
            <a:r>
              <a:rPr lang="ru-RU" u="sng" dirty="0" err="1" smtClean="0">
                <a:hlinkClick r:id="rId4"/>
              </a:rPr>
              <a:t>IGrouping</a:t>
            </a:r>
            <a:r>
              <a:rPr lang="ru-RU" u="sng" dirty="0" smtClean="0">
                <a:hlinkClick r:id="rId4"/>
              </a:rPr>
              <a:t>&lt;</a:t>
            </a:r>
            <a:r>
              <a:rPr lang="ru-RU" u="sng" dirty="0" err="1" smtClean="0">
                <a:hlinkClick r:id="rId4"/>
              </a:rPr>
              <a:t>TKey,TElement</a:t>
            </a:r>
            <a:r>
              <a:rPr lang="ru-RU" u="sng" dirty="0">
                <a:hlinkClick r:id="rId4"/>
              </a:rPr>
              <a:t>&gt;</a:t>
            </a:r>
            <a:r>
              <a:rPr lang="ru-RU" dirty="0"/>
              <a:t> группу</a:t>
            </a:r>
            <a:r>
              <a:rPr lang="ru-RU" dirty="0" smtClean="0"/>
              <a:t>. В декларативном синтаксисе</a:t>
            </a:r>
            <a:r>
              <a:rPr lang="en-US" dirty="0" smtClean="0"/>
              <a:t>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group </a:t>
            </a:r>
            <a:r>
              <a:rPr lang="en-US" dirty="0"/>
              <a:t>…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dirty="0" smtClean="0">
                <a:solidFill>
                  <a:schemeClr val="accent1">
                    <a:lumMod val="75000"/>
                  </a:schemeClr>
                </a:solidFill>
              </a:rPr>
              <a:t>by </a:t>
            </a:r>
            <a:r>
              <a:rPr lang="ru-RU" dirty="0" smtClean="0">
                <a:solidFill>
                  <a:schemeClr val="tx1"/>
                </a:solidFill>
              </a:rPr>
              <a:t>или</a:t>
            </a:r>
            <a:r>
              <a:rPr lang="ru-RU" dirty="0" smtClean="0"/>
              <a:t> </a:t>
            </a:r>
            <a:r>
              <a:rPr lang="en-US" dirty="0" smtClean="0">
                <a:solidFill>
                  <a:schemeClr val="accent1">
                    <a:lumMod val="75000"/>
                  </a:schemeClr>
                </a:solidFill>
              </a:rPr>
              <a:t>group </a:t>
            </a:r>
            <a:r>
              <a:rPr lang="en-US" dirty="0"/>
              <a:t>…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dirty="0" smtClean="0">
                <a:solidFill>
                  <a:schemeClr val="accent1">
                    <a:lumMod val="75000"/>
                  </a:schemeClr>
                </a:solidFill>
              </a:rPr>
              <a:t>by </a:t>
            </a:r>
            <a:r>
              <a:rPr lang="en-US" dirty="0"/>
              <a:t>…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dirty="0" smtClean="0">
                <a:solidFill>
                  <a:schemeClr val="accent1">
                    <a:lumMod val="75000"/>
                  </a:schemeClr>
                </a:solidFill>
              </a:rPr>
              <a:t>into</a:t>
            </a:r>
            <a:endParaRPr lang="ru-RU" dirty="0" smtClean="0"/>
          </a:p>
          <a:p>
            <a:pPr lvl="0">
              <a:lnSpc>
                <a:spcPct val="115000"/>
              </a:lnSpc>
              <a:spcBef>
                <a:spcPts val="1400"/>
              </a:spcBef>
            </a:pPr>
            <a:r>
              <a:rPr lang="en-US" u="sng" dirty="0" err="1" smtClean="0">
                <a:hlinkClick r:id="rId5"/>
              </a:rPr>
              <a:t>ToLookup</a:t>
            </a:r>
            <a:r>
              <a:rPr lang="ru-RU" dirty="0" smtClean="0"/>
              <a:t> – вставляет </a:t>
            </a:r>
            <a:r>
              <a:rPr lang="ru-RU" dirty="0"/>
              <a:t>элементы в </a:t>
            </a:r>
            <a:r>
              <a:rPr lang="ru-RU" dirty="0" err="1">
                <a:hlinkClick r:id="rId6"/>
              </a:rPr>
              <a:t>Lookup</a:t>
            </a:r>
            <a:r>
              <a:rPr lang="ru-RU" dirty="0">
                <a:hlinkClick r:id="rId6"/>
              </a:rPr>
              <a:t>&lt;</a:t>
            </a:r>
            <a:r>
              <a:rPr lang="ru-RU" dirty="0" err="1">
                <a:hlinkClick r:id="rId6"/>
              </a:rPr>
              <a:t>TKey,TElement</a:t>
            </a:r>
            <a:r>
              <a:rPr lang="ru-RU" dirty="0">
                <a:hlinkClick r:id="rId6"/>
              </a:rPr>
              <a:t>&gt;</a:t>
            </a:r>
            <a:r>
              <a:rPr lang="ru-RU" dirty="0"/>
              <a:t> (словарь "один ко многим") в зависимости от функции выбора ключа.</a:t>
            </a:r>
            <a:endParaRPr lang="ru-RU" dirty="0" smtClean="0"/>
          </a:p>
        </p:txBody>
      </p:sp>
    </p:spTree>
    <p:extLst>
      <p:ext uri="{BB962C8B-B14F-4D97-AF65-F5344CB8AC3E}">
        <p14:creationId xmlns:p14="http://schemas.microsoft.com/office/powerpoint/2010/main" val="16745546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77"/>
          <p:cNvSpPr txBox="1">
            <a:spLocks noGrp="1"/>
          </p:cNvSpPr>
          <p:nvPr>
            <p:ph type="title"/>
          </p:nvPr>
        </p:nvSpPr>
        <p:spPr>
          <a:xfrm>
            <a:off x="762000" y="396400"/>
            <a:ext cx="7686261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venir"/>
              <a:buNone/>
            </a:pPr>
            <a:r>
              <a:rPr lang="ru-RU" sz="6000" dirty="0" smtClean="0"/>
              <a:t>Описание всех методов</a:t>
            </a:r>
            <a:endParaRPr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78"/>
          <p:cNvSpPr txBox="1">
            <a:spLocks noGrp="1"/>
          </p:cNvSpPr>
          <p:nvPr>
            <p:ph type="title"/>
          </p:nvPr>
        </p:nvSpPr>
        <p:spPr>
          <a:xfrm>
            <a:off x="500550" y="330725"/>
            <a:ext cx="8190300" cy="67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800" dirty="0" smtClean="0"/>
              <a:t>Документация</a:t>
            </a:r>
            <a:endParaRPr sz="2800" dirty="0"/>
          </a:p>
        </p:txBody>
      </p:sp>
      <p:sp>
        <p:nvSpPr>
          <p:cNvPr id="2" name="Прямоугольник 1"/>
          <p:cNvSpPr/>
          <p:nvPr/>
        </p:nvSpPr>
        <p:spPr>
          <a:xfrm>
            <a:off x="583096" y="1009926"/>
            <a:ext cx="810775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63550" indent="-342900"/>
            <a:r>
              <a:rPr lang="ru-RU" dirty="0" smtClean="0"/>
              <a:t>Подробное  описание всех операторов </a:t>
            </a:r>
            <a:r>
              <a:rPr lang="en-US" dirty="0" err="1" smtClean="0"/>
              <a:t>linq</a:t>
            </a:r>
            <a:r>
              <a:rPr lang="en-US" dirty="0" smtClean="0"/>
              <a:t> </a:t>
            </a:r>
            <a:r>
              <a:rPr lang="ru-RU" dirty="0" smtClean="0"/>
              <a:t>Вы сможете найти: </a:t>
            </a:r>
            <a:r>
              <a:rPr lang="ru-RU" dirty="0" smtClean="0">
                <a:hlinkClick r:id="rId3"/>
              </a:rPr>
              <a:t>тут</a:t>
            </a:r>
            <a:endParaRPr lang="ru-RU" dirty="0" smtClean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77"/>
          <p:cNvSpPr txBox="1">
            <a:spLocks noGrp="1"/>
          </p:cNvSpPr>
          <p:nvPr>
            <p:ph type="title"/>
          </p:nvPr>
        </p:nvSpPr>
        <p:spPr>
          <a:xfrm>
            <a:off x="956225" y="396400"/>
            <a:ext cx="7492036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venir"/>
              <a:buNone/>
            </a:pPr>
            <a:r>
              <a:rPr lang="ru-RU" sz="6000" dirty="0" smtClean="0"/>
              <a:t>Ответы на вопросы</a:t>
            </a:r>
            <a:endParaRPr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78"/>
          <p:cNvSpPr txBox="1">
            <a:spLocks noGrp="1"/>
          </p:cNvSpPr>
          <p:nvPr>
            <p:ph type="title"/>
          </p:nvPr>
        </p:nvSpPr>
        <p:spPr>
          <a:xfrm>
            <a:off x="500550" y="330725"/>
            <a:ext cx="8190300" cy="67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800" dirty="0"/>
              <a:t>Решение задач</a:t>
            </a:r>
            <a:endParaRPr sz="2800" dirty="0"/>
          </a:p>
        </p:txBody>
      </p:sp>
      <p:sp>
        <p:nvSpPr>
          <p:cNvPr id="2" name="Прямоугольник 1"/>
          <p:cNvSpPr/>
          <p:nvPr/>
        </p:nvSpPr>
        <p:spPr>
          <a:xfrm>
            <a:off x="583096" y="1009926"/>
            <a:ext cx="8107754" cy="32624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63550" indent="-342900">
              <a:buAutoNum type="arabicPeriod"/>
            </a:pPr>
            <a:r>
              <a:rPr lang="ru-RU" dirty="0" smtClean="0"/>
              <a:t>Напишите запрос к коллекции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</a:rPr>
              <a:t>int</a:t>
            </a:r>
            <a:r>
              <a:rPr lang="en-US" dirty="0"/>
              <a:t>[] 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numbers =</a:t>
            </a:r>
            <a:r>
              <a:rPr lang="en-US" dirty="0"/>
              <a:t> { 1, 2, 3, 4, 5, 6, 7, 8, 9, 10 </a:t>
            </a:r>
            <a:r>
              <a:rPr lang="en-US" dirty="0" smtClean="0"/>
              <a:t>}</a:t>
            </a:r>
            <a:r>
              <a:rPr lang="ru-RU" dirty="0" smtClean="0"/>
              <a:t>, который вернет все числа кратные 3.</a:t>
            </a:r>
          </a:p>
          <a:p>
            <a:pPr marL="463550" indent="-342900">
              <a:buAutoNum type="arabicPeriod"/>
            </a:pPr>
            <a:r>
              <a:rPr lang="ru-RU" dirty="0" smtClean="0"/>
              <a:t>Напишите запрос к коллекции из п.1, который вернет объект(любого типа), содержащий число из коллекции, например </a:t>
            </a:r>
            <a:r>
              <a:rPr lang="en-US" dirty="0" smtClean="0">
                <a:solidFill>
                  <a:srgbClr val="669900"/>
                </a:solidFill>
              </a:rPr>
              <a:t>Student</a:t>
            </a:r>
            <a:r>
              <a:rPr lang="en-US" dirty="0" smtClean="0">
                <a:solidFill>
                  <a:schemeClr val="tx1"/>
                </a:solidFill>
              </a:rPr>
              <a:t>, </a:t>
            </a:r>
            <a:r>
              <a:rPr lang="ru-RU" dirty="0" smtClean="0">
                <a:solidFill>
                  <a:schemeClr val="tx1"/>
                </a:solidFill>
              </a:rPr>
              <a:t>в котором </a:t>
            </a:r>
            <a:r>
              <a:rPr lang="en-US" dirty="0" err="1"/>
              <a:t>StudentId</a:t>
            </a:r>
            <a:r>
              <a:rPr lang="en-US" dirty="0"/>
              <a:t> </a:t>
            </a:r>
            <a:r>
              <a:rPr lang="en-US" dirty="0" smtClean="0"/>
              <a:t>=</a:t>
            </a:r>
            <a:r>
              <a:rPr lang="ru-RU" dirty="0" smtClean="0"/>
              <a:t> </a:t>
            </a:r>
            <a:r>
              <a:rPr lang="en-US" dirty="0" smtClean="0"/>
              <a:t>n(n – </a:t>
            </a:r>
            <a:r>
              <a:rPr lang="ru-RU" dirty="0" smtClean="0"/>
              <a:t>число из коллекции п.1</a:t>
            </a:r>
            <a:r>
              <a:rPr lang="en-US" dirty="0" smtClean="0"/>
              <a:t>)</a:t>
            </a:r>
            <a:r>
              <a:rPr lang="en-US" dirty="0"/>
              <a:t>;</a:t>
            </a:r>
            <a:endParaRPr lang="ru-RU" dirty="0" smtClean="0">
              <a:solidFill>
                <a:schemeClr val="tx1"/>
              </a:solidFill>
            </a:endParaRPr>
          </a:p>
          <a:p>
            <a:pPr marL="463550" indent="-342900">
              <a:buAutoNum type="arabicPeriod"/>
            </a:pPr>
            <a:r>
              <a:rPr lang="ru-RU" dirty="0" smtClean="0"/>
              <a:t>Напишите запрос к коллекции </a:t>
            </a:r>
          </a:p>
          <a:p>
            <a:pPr lvl="2"/>
            <a:r>
              <a:rPr lang="en-US" sz="1100" dirty="0" smtClean="0">
                <a:solidFill>
                  <a:srgbClr val="669900"/>
                </a:solidFill>
              </a:rPr>
              <a:t>List</a:t>
            </a:r>
            <a:r>
              <a:rPr lang="en-US" sz="1100" dirty="0" smtClean="0"/>
              <a:t>&lt;</a:t>
            </a:r>
            <a:r>
              <a:rPr lang="en-US" sz="1100" dirty="0" smtClean="0">
                <a:solidFill>
                  <a:srgbClr val="669900"/>
                </a:solidFill>
              </a:rPr>
              <a:t>Student</a:t>
            </a:r>
            <a:r>
              <a:rPr lang="en-US" sz="1100" dirty="0" smtClean="0"/>
              <a:t>&gt; </a:t>
            </a:r>
            <a:r>
              <a:rPr lang="en-US" sz="1100" dirty="0" smtClean="0">
                <a:solidFill>
                  <a:schemeClr val="accent1">
                    <a:lumMod val="50000"/>
                  </a:schemeClr>
                </a:solidFill>
              </a:rPr>
              <a:t>students</a:t>
            </a:r>
            <a:r>
              <a:rPr lang="en-US" sz="1100" dirty="0" smtClean="0"/>
              <a:t> = new </a:t>
            </a:r>
            <a:r>
              <a:rPr lang="en-US" sz="1100" dirty="0" smtClean="0">
                <a:solidFill>
                  <a:srgbClr val="669900"/>
                </a:solidFill>
              </a:rPr>
              <a:t>List</a:t>
            </a:r>
            <a:r>
              <a:rPr lang="en-US" sz="1100" dirty="0" smtClean="0"/>
              <a:t>&lt;</a:t>
            </a:r>
            <a:r>
              <a:rPr lang="en-US" sz="1100" dirty="0" smtClean="0">
                <a:solidFill>
                  <a:srgbClr val="669900"/>
                </a:solidFill>
              </a:rPr>
              <a:t>Student</a:t>
            </a:r>
            <a:r>
              <a:rPr lang="en-US" sz="1100" dirty="0" smtClean="0"/>
              <a:t>&gt; </a:t>
            </a:r>
          </a:p>
          <a:p>
            <a:pPr lvl="2"/>
            <a:r>
              <a:rPr lang="ru-RU" sz="1100" dirty="0" smtClean="0"/>
              <a:t>{ </a:t>
            </a:r>
          </a:p>
          <a:p>
            <a:pPr lvl="2"/>
            <a:r>
              <a:rPr lang="en-US" sz="1100" dirty="0" smtClean="0"/>
              <a:t>    </a:t>
            </a:r>
            <a:r>
              <a:rPr lang="en-US" sz="1100" dirty="0" smtClean="0">
                <a:solidFill>
                  <a:schemeClr val="accent1">
                    <a:lumMod val="75000"/>
                  </a:schemeClr>
                </a:solidFill>
              </a:rPr>
              <a:t>new</a:t>
            </a:r>
            <a:r>
              <a:rPr lang="en-US" sz="1100" dirty="0" smtClean="0"/>
              <a:t> </a:t>
            </a:r>
            <a:r>
              <a:rPr lang="en-US" sz="1100" dirty="0" smtClean="0">
                <a:solidFill>
                  <a:srgbClr val="669900"/>
                </a:solidFill>
              </a:rPr>
              <a:t>Student</a:t>
            </a:r>
            <a:r>
              <a:rPr lang="en-US" sz="1100" dirty="0" smtClean="0"/>
              <a:t> { </a:t>
            </a:r>
            <a:r>
              <a:rPr lang="en-US" sz="1100" dirty="0" err="1" smtClean="0"/>
              <a:t>StudentId</a:t>
            </a:r>
            <a:r>
              <a:rPr lang="en-US" sz="1100" dirty="0" smtClean="0"/>
              <a:t> = 1, Name = "</a:t>
            </a:r>
            <a:r>
              <a:rPr lang="en-US" sz="1100" dirty="0" smtClean="0">
                <a:solidFill>
                  <a:srgbClr val="C00000"/>
                </a:solidFill>
              </a:rPr>
              <a:t>Ivanov</a:t>
            </a:r>
            <a:r>
              <a:rPr lang="en-US" sz="1100" dirty="0" smtClean="0"/>
              <a:t>", </a:t>
            </a:r>
            <a:r>
              <a:rPr lang="en-US" sz="1100" dirty="0" err="1" smtClean="0"/>
              <a:t>GroupId</a:t>
            </a:r>
            <a:r>
              <a:rPr lang="en-US" sz="1100" dirty="0" smtClean="0"/>
              <a:t> = 1 },</a:t>
            </a:r>
          </a:p>
          <a:p>
            <a:pPr lvl="2"/>
            <a:r>
              <a:rPr lang="en-US" sz="1100" dirty="0" smtClean="0"/>
              <a:t>    </a:t>
            </a:r>
            <a:r>
              <a:rPr lang="en-US" sz="1100" dirty="0" smtClean="0">
                <a:solidFill>
                  <a:schemeClr val="accent1">
                    <a:lumMod val="75000"/>
                  </a:schemeClr>
                </a:solidFill>
              </a:rPr>
              <a:t>new</a:t>
            </a:r>
            <a:r>
              <a:rPr lang="en-US" sz="1100" dirty="0" smtClean="0"/>
              <a:t> </a:t>
            </a:r>
            <a:r>
              <a:rPr lang="en-US" sz="1100" dirty="0" smtClean="0">
                <a:solidFill>
                  <a:srgbClr val="669900"/>
                </a:solidFill>
              </a:rPr>
              <a:t>Student</a:t>
            </a:r>
            <a:r>
              <a:rPr lang="en-US" sz="1100" dirty="0" smtClean="0"/>
              <a:t> { </a:t>
            </a:r>
            <a:r>
              <a:rPr lang="en-US" sz="1100" dirty="0" err="1" smtClean="0"/>
              <a:t>StudentId</a:t>
            </a:r>
            <a:r>
              <a:rPr lang="en-US" sz="1100" dirty="0" smtClean="0"/>
              <a:t> = 2, Name = "</a:t>
            </a:r>
            <a:r>
              <a:rPr lang="en-US" sz="1100" dirty="0" err="1" smtClean="0">
                <a:solidFill>
                  <a:srgbClr val="C00000"/>
                </a:solidFill>
              </a:rPr>
              <a:t>Petrov</a:t>
            </a:r>
            <a:r>
              <a:rPr lang="en-US" sz="1100" dirty="0" smtClean="0"/>
              <a:t>", </a:t>
            </a:r>
            <a:r>
              <a:rPr lang="en-US" sz="1100" dirty="0" err="1" smtClean="0"/>
              <a:t>GroupId</a:t>
            </a:r>
            <a:r>
              <a:rPr lang="en-US" sz="1100" dirty="0" smtClean="0"/>
              <a:t> = 2 },</a:t>
            </a:r>
          </a:p>
          <a:p>
            <a:pPr lvl="2"/>
            <a:r>
              <a:rPr lang="en-US" sz="1100" dirty="0" smtClean="0"/>
              <a:t>    </a:t>
            </a:r>
            <a:r>
              <a:rPr lang="en-US" sz="1100" dirty="0" smtClean="0">
                <a:solidFill>
                  <a:schemeClr val="accent1">
                    <a:lumMod val="75000"/>
                  </a:schemeClr>
                </a:solidFill>
              </a:rPr>
              <a:t>new</a:t>
            </a:r>
            <a:r>
              <a:rPr lang="en-US" sz="1100" dirty="0" smtClean="0"/>
              <a:t> </a:t>
            </a:r>
            <a:r>
              <a:rPr lang="en-US" sz="1100" dirty="0" smtClean="0">
                <a:solidFill>
                  <a:srgbClr val="669900"/>
                </a:solidFill>
              </a:rPr>
              <a:t>Student</a:t>
            </a:r>
            <a:r>
              <a:rPr lang="en-US" sz="1100" dirty="0" smtClean="0"/>
              <a:t> { </a:t>
            </a:r>
            <a:r>
              <a:rPr lang="en-US" sz="1100" dirty="0" err="1" smtClean="0"/>
              <a:t>StudentId</a:t>
            </a:r>
            <a:r>
              <a:rPr lang="en-US" sz="1100" dirty="0" smtClean="0"/>
              <a:t> = </a:t>
            </a:r>
            <a:r>
              <a:rPr lang="ru-RU" sz="1100" dirty="0" smtClean="0"/>
              <a:t>3</a:t>
            </a:r>
            <a:r>
              <a:rPr lang="en-US" sz="1100" dirty="0" smtClean="0"/>
              <a:t>, Name = "</a:t>
            </a:r>
            <a:r>
              <a:rPr lang="en-US" sz="1100" dirty="0" err="1" smtClean="0">
                <a:solidFill>
                  <a:srgbClr val="C00000"/>
                </a:solidFill>
              </a:rPr>
              <a:t>Sidorov</a:t>
            </a:r>
            <a:r>
              <a:rPr lang="en-US" sz="1100" dirty="0" smtClean="0"/>
              <a:t>", </a:t>
            </a:r>
            <a:r>
              <a:rPr lang="en-US" sz="1100" dirty="0" err="1" smtClean="0"/>
              <a:t>GroupId</a:t>
            </a:r>
            <a:r>
              <a:rPr lang="en-US" sz="1100" dirty="0" smtClean="0"/>
              <a:t> = 1 },</a:t>
            </a:r>
          </a:p>
          <a:p>
            <a:pPr lvl="2"/>
            <a:r>
              <a:rPr lang="ru-RU" sz="1100" dirty="0" smtClean="0"/>
              <a:t>}</a:t>
            </a:r>
            <a:r>
              <a:rPr lang="en-US" sz="1100" dirty="0" smtClean="0"/>
              <a:t>;</a:t>
            </a:r>
          </a:p>
          <a:p>
            <a:pPr lvl="2"/>
            <a:r>
              <a:rPr lang="ru-RU" dirty="0" smtClean="0"/>
              <a:t>запрос, который сгруппирует студентов по </a:t>
            </a:r>
            <a:r>
              <a:rPr lang="en-US" dirty="0" err="1" smtClean="0"/>
              <a:t>GroupId</a:t>
            </a:r>
            <a:r>
              <a:rPr lang="ru-RU" dirty="0" smtClean="0"/>
              <a:t>.</a:t>
            </a:r>
          </a:p>
          <a:p>
            <a:pPr lvl="2"/>
            <a:r>
              <a:rPr lang="ru-RU" dirty="0"/>
              <a:t> </a:t>
            </a:r>
            <a:r>
              <a:rPr lang="ru-RU" dirty="0" smtClean="0"/>
              <a:t> 4. Напишите запрос, выводящий количество студентов из п.3</a:t>
            </a:r>
          </a:p>
          <a:p>
            <a:pPr lvl="2"/>
            <a:r>
              <a:rPr lang="ru-RU" dirty="0"/>
              <a:t> </a:t>
            </a:r>
            <a:r>
              <a:rPr lang="ru-RU" dirty="0" smtClean="0"/>
              <a:t> 5. Напишите запрос, сортирующий элементы коллекции из п.3 по убыванию идентификатора студента.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79"/>
          <p:cNvSpPr txBox="1">
            <a:spLocks noGrp="1"/>
          </p:cNvSpPr>
          <p:nvPr>
            <p:ph type="title"/>
          </p:nvPr>
        </p:nvSpPr>
        <p:spPr>
          <a:xfrm>
            <a:off x="956225" y="396400"/>
            <a:ext cx="6931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6000"/>
              <a:t>Рефлексия</a:t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43"/>
          <p:cNvSpPr txBox="1">
            <a:spLocks noGrp="1"/>
          </p:cNvSpPr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Цели вебинара</a:t>
            </a:r>
            <a:endParaRPr dirty="0"/>
          </a:p>
        </p:txBody>
      </p:sp>
      <p:graphicFrame>
        <p:nvGraphicFramePr>
          <p:cNvPr id="242" name="Google Shape;242;p43"/>
          <p:cNvGraphicFramePr/>
          <p:nvPr>
            <p:extLst>
              <p:ext uri="{D42A27DB-BD31-4B8C-83A1-F6EECF244321}">
                <p14:modId xmlns:p14="http://schemas.microsoft.com/office/powerpoint/2010/main" val="2263411008"/>
              </p:ext>
            </p:extLst>
          </p:nvPr>
        </p:nvGraphicFramePr>
        <p:xfrm>
          <a:off x="952500" y="1544194"/>
          <a:ext cx="7239000" cy="1147542"/>
        </p:xfrm>
        <a:graphic>
          <a:graphicData uri="http://schemas.openxmlformats.org/drawingml/2006/table">
            <a:tbl>
              <a:tblPr>
                <a:noFill/>
                <a:tableStyleId>{94049BB3-00C0-4E36-B14F-18F9014FF099}</a:tableStyleId>
              </a:tblPr>
              <a:tblGrid>
                <a:gridCol w="489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49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b="1" dirty="0">
                          <a:solidFill>
                            <a:srgbClr val="FF77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b="1">
                        <a:solidFill>
                          <a:srgbClr val="FF77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dirty="0" smtClean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Узнать про все операции, доступные</a:t>
                      </a:r>
                      <a:r>
                        <a:rPr lang="ru-RU" baseline="0" dirty="0" smtClean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 в </a:t>
                      </a:r>
                      <a:r>
                        <a:rPr lang="en-US" baseline="0" dirty="0" err="1" smtClean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linq</a:t>
                      </a:r>
                      <a:r>
                        <a:rPr lang="en-US" baseline="0" dirty="0" smtClean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-</a:t>
                      </a:r>
                      <a:r>
                        <a:rPr lang="ru-RU" baseline="0" dirty="0" smtClean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запросах</a:t>
                      </a:r>
                      <a:endParaRPr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b="1" dirty="0">
                          <a:solidFill>
                            <a:srgbClr val="FF77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  <a:endParaRPr b="1">
                        <a:solidFill>
                          <a:srgbClr val="FF77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dirty="0" smtClean="0">
                          <a:solidFill>
                            <a:srgbClr val="3F3F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Узнать</a:t>
                      </a:r>
                      <a:r>
                        <a:rPr lang="ru-RU" baseline="0" dirty="0" smtClean="0">
                          <a:solidFill>
                            <a:srgbClr val="3F3F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какие операторы используются в операциях из п.1</a:t>
                      </a:r>
                      <a:endParaRPr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b="1">
                          <a:solidFill>
                            <a:srgbClr val="FF77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3.</a:t>
                      </a:r>
                      <a:endParaRPr b="1">
                        <a:solidFill>
                          <a:srgbClr val="FF77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dirty="0" smtClean="0">
                          <a:solidFill>
                            <a:srgbClr val="3F3F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Практика</a:t>
                      </a:r>
                      <a:r>
                        <a:rPr lang="ru-RU" baseline="0" dirty="0" smtClean="0">
                          <a:solidFill>
                            <a:srgbClr val="3F3F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в навыках описания запросов</a:t>
                      </a:r>
                      <a:endParaRPr lang="en-US" dirty="0" smtClean="0">
                        <a:solidFill>
                          <a:srgbClr val="3F3F3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243" name="Google Shape;243;p4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077621" y="258179"/>
            <a:ext cx="652375" cy="652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81"/>
          <p:cNvSpPr txBox="1">
            <a:spLocks noGrp="1"/>
          </p:cNvSpPr>
          <p:nvPr>
            <p:ph type="title"/>
          </p:nvPr>
        </p:nvSpPr>
        <p:spPr>
          <a:xfrm>
            <a:off x="956225" y="110644"/>
            <a:ext cx="7706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/>
              <a:t>Вопросы?</a:t>
            </a:r>
            <a:endParaRPr/>
          </a:p>
        </p:txBody>
      </p:sp>
      <p:pic>
        <p:nvPicPr>
          <p:cNvPr id="477" name="Google Shape;477;p8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32750" y="2962492"/>
            <a:ext cx="496901" cy="496901"/>
          </a:xfrm>
          <a:prstGeom prst="rect">
            <a:avLst/>
          </a:prstGeom>
          <a:noFill/>
          <a:ln>
            <a:noFill/>
          </a:ln>
        </p:spPr>
      </p:pic>
      <p:sp>
        <p:nvSpPr>
          <p:cNvPr id="478" name="Google Shape;478;p81"/>
          <p:cNvSpPr txBox="1"/>
          <p:nvPr/>
        </p:nvSpPr>
        <p:spPr>
          <a:xfrm>
            <a:off x="1750800" y="2887700"/>
            <a:ext cx="16356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Задаем вопросы в чат</a:t>
            </a:r>
            <a:endParaRPr sz="15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479" name="Google Shape;479;p8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15725" y="2962492"/>
            <a:ext cx="496901" cy="496901"/>
          </a:xfrm>
          <a:prstGeom prst="rect">
            <a:avLst/>
          </a:prstGeom>
          <a:noFill/>
          <a:ln>
            <a:noFill/>
          </a:ln>
        </p:spPr>
      </p:pic>
      <p:sp>
        <p:nvSpPr>
          <p:cNvPr id="480" name="Google Shape;480;p81"/>
          <p:cNvSpPr txBox="1"/>
          <p:nvPr/>
        </p:nvSpPr>
        <p:spPr>
          <a:xfrm>
            <a:off x="5119475" y="2892305"/>
            <a:ext cx="3000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Ставим “–”,</a:t>
            </a:r>
            <a:endParaRPr sz="15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если вопросов нет</a:t>
            </a:r>
            <a:endParaRPr sz="15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Светлая тема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2208</TotalTime>
  <Words>913</Words>
  <Application>Microsoft Office PowerPoint</Application>
  <PresentationFormat>Экран (16:9)</PresentationFormat>
  <Paragraphs>147</Paragraphs>
  <Slides>41</Slides>
  <Notes>41</Notes>
  <HiddenSlides>1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41</vt:i4>
      </vt:variant>
    </vt:vector>
  </HeadingPairs>
  <TitlesOfParts>
    <vt:vector size="48" baseType="lpstr">
      <vt:lpstr>Avenir</vt:lpstr>
      <vt:lpstr>Arial</vt:lpstr>
      <vt:lpstr>Courier New</vt:lpstr>
      <vt:lpstr>SFMono-Regular</vt:lpstr>
      <vt:lpstr>Roboto</vt:lpstr>
      <vt:lpstr>var(--code-font-family)</vt:lpstr>
      <vt:lpstr>Светлая тема</vt:lpstr>
      <vt:lpstr>Linq операторы</vt:lpstr>
      <vt:lpstr>Презентация PowerPoint</vt:lpstr>
      <vt:lpstr>Linq-операторы </vt:lpstr>
      <vt:lpstr>Правила вебинара</vt:lpstr>
      <vt:lpstr>Маршрут вебинара</vt:lpstr>
      <vt:lpstr>Цели вебинара</vt:lpstr>
      <vt:lpstr>Операции linq</vt:lpstr>
      <vt:lpstr>Операции Linq</vt:lpstr>
      <vt:lpstr>Фильтрация</vt:lpstr>
      <vt:lpstr>Фильтрация</vt:lpstr>
      <vt:lpstr>Фильтрация</vt:lpstr>
      <vt:lpstr>Проекция</vt:lpstr>
      <vt:lpstr>Проекция</vt:lpstr>
      <vt:lpstr>Проекция</vt:lpstr>
      <vt:lpstr>Операции над множествами</vt:lpstr>
      <vt:lpstr>Операции над множествами</vt:lpstr>
      <vt:lpstr>Операции над множествами</vt:lpstr>
      <vt:lpstr>Сортировка данных</vt:lpstr>
      <vt:lpstr>Сортировка данных</vt:lpstr>
      <vt:lpstr>Сортировка данных</vt:lpstr>
      <vt:lpstr>Квантификаторы</vt:lpstr>
      <vt:lpstr>Операции квантификатора</vt:lpstr>
      <vt:lpstr>Секционирование данных</vt:lpstr>
      <vt:lpstr>Секционирование данных</vt:lpstr>
      <vt:lpstr>Секционирование данных</vt:lpstr>
      <vt:lpstr>Преобразование типов данных</vt:lpstr>
      <vt:lpstr>Преобразование типов данных</vt:lpstr>
      <vt:lpstr>Операции соединения</vt:lpstr>
      <vt:lpstr>Операции соединения(Join)</vt:lpstr>
      <vt:lpstr>Операции соединения(Join)</vt:lpstr>
      <vt:lpstr>Группировка данных</vt:lpstr>
      <vt:lpstr>Группирование данных</vt:lpstr>
      <vt:lpstr>Группирование данных</vt:lpstr>
      <vt:lpstr>Группирование данных</vt:lpstr>
      <vt:lpstr>Описание всех методов</vt:lpstr>
      <vt:lpstr>Документация</vt:lpstr>
      <vt:lpstr>Ответы на вопросы</vt:lpstr>
      <vt:lpstr>Решение задач</vt:lpstr>
      <vt:lpstr>Рефлексия</vt:lpstr>
      <vt:lpstr>Цели вебинара</vt:lpstr>
      <vt:lpstr>Вопросы?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Linq-запросы</dc:title>
  <cp:lastModifiedBy>Нилов Павел Геннадьевич</cp:lastModifiedBy>
  <cp:revision>212</cp:revision>
  <dcterms:modified xsi:type="dcterms:W3CDTF">2024-10-09T10:33:58Z</dcterms:modified>
</cp:coreProperties>
</file>